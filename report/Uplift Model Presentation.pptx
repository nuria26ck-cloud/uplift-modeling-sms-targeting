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75" r:id="rId1"/>
  </p:sldMasterIdLst>
  <p:notesMasterIdLst>
    <p:notesMasterId r:id="rId17"/>
  </p:notesMasterIdLst>
  <p:sldIdLst>
    <p:sldId id="256" r:id="rId2"/>
    <p:sldId id="258" r:id="rId3"/>
    <p:sldId id="261" r:id="rId4"/>
    <p:sldId id="260" r:id="rId5"/>
    <p:sldId id="297" r:id="rId6"/>
    <p:sldId id="299" r:id="rId7"/>
    <p:sldId id="296" r:id="rId8"/>
    <p:sldId id="300" r:id="rId9"/>
    <p:sldId id="301" r:id="rId10"/>
    <p:sldId id="263" r:id="rId11"/>
    <p:sldId id="302" r:id="rId12"/>
    <p:sldId id="303" r:id="rId13"/>
    <p:sldId id="304" r:id="rId14"/>
    <p:sldId id="264" r:id="rId15"/>
    <p:sldId id="305" r:id="rId16"/>
  </p:sldIdLst>
  <p:sldSz cx="9144000" cy="5143500" type="screen16x9"/>
  <p:notesSz cx="6858000" cy="9144000"/>
  <p:embeddedFontLst>
    <p:embeddedFont>
      <p:font typeface="Albert Sans" pitchFamily="2" charset="77"/>
      <p:regular r:id="rId18"/>
      <p:bold r:id="rId19"/>
      <p:italic r:id="rId20"/>
      <p:boldItalic r:id="rId21"/>
    </p:embeddedFont>
    <p:embeddedFont>
      <p:font typeface="Elsie" panose="02000000000000000000" pitchFamily="2" charset="77"/>
      <p:regular r:id="rId22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1D61AD"/>
    <a:srgbClr val="EBF4FB"/>
    <a:srgbClr val="D7E1EB"/>
    <a:srgbClr val="D9E3EC"/>
    <a:srgbClr val="FFFFFF"/>
    <a:srgbClr val="437BBB"/>
    <a:srgbClr val="D6E0EA"/>
    <a:srgbClr val="427BBB"/>
    <a:srgbClr val="DE6366"/>
    <a:srgbClr val="F4993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341AC4FE-99E7-4046-B2C9-54B9DA016E40}">
  <a:tblStyle styleId="{341AC4FE-99E7-4046-B2C9-54B9DA016E40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  <a:tblStyle styleId="{388E0366-2486-4FD1-A2E2-A984500EE7D4}" styleName="Table_1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8227"/>
    <p:restoredTop sz="94650"/>
  </p:normalViewPr>
  <p:slideViewPr>
    <p:cSldViewPr snapToGrid="0">
      <p:cViewPr varScale="1">
        <p:scale>
          <a:sx n="160" d="100"/>
          <a:sy n="160" d="100"/>
        </p:scale>
        <p:origin x="624" y="176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1.fntdata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font" Target="fonts/font4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font" Target="fonts/font3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font" Target="fonts/font2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5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Google Shape;223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4" name="Google Shape;224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" name="Google Shape;242;g2791cf3e0cf_0_2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3" name="Google Shape;243;g2791cf3e0cf_0_2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0" name="Google Shape;280;g279297f6f4e_2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1" name="Google Shape;281;g279297f6f4e_2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" name="Google Shape;266;g278dd1e3212_0_17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7" name="Google Shape;267;g278dd1e3212_0_17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5">
          <a:extLst>
            <a:ext uri="{FF2B5EF4-FFF2-40B4-BE49-F238E27FC236}">
              <a16:creationId xmlns:a16="http://schemas.microsoft.com/office/drawing/2014/main" id="{E4FFB7D4-9B33-95B6-92F3-059BA148F1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" name="Google Shape;266;g278dd1e3212_0_176:notes">
            <a:extLst>
              <a:ext uri="{FF2B5EF4-FFF2-40B4-BE49-F238E27FC236}">
                <a16:creationId xmlns:a16="http://schemas.microsoft.com/office/drawing/2014/main" id="{D5C2183B-7AFB-FA81-90F1-0173110A3B2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7" name="Google Shape;267;g278dd1e3212_0_176:notes">
            <a:extLst>
              <a:ext uri="{FF2B5EF4-FFF2-40B4-BE49-F238E27FC236}">
                <a16:creationId xmlns:a16="http://schemas.microsoft.com/office/drawing/2014/main" id="{AAACB8EB-A8B3-76B1-131E-724316B9613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79280305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5">
          <a:extLst>
            <a:ext uri="{FF2B5EF4-FFF2-40B4-BE49-F238E27FC236}">
              <a16:creationId xmlns:a16="http://schemas.microsoft.com/office/drawing/2014/main" id="{AAE9E562-4D75-73F5-C5A5-7F73B1AE56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" name="Google Shape;266;g278dd1e3212_0_176:notes">
            <a:extLst>
              <a:ext uri="{FF2B5EF4-FFF2-40B4-BE49-F238E27FC236}">
                <a16:creationId xmlns:a16="http://schemas.microsoft.com/office/drawing/2014/main" id="{58CE1E23-9D42-7C99-409B-787F4DA0309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7" name="Google Shape;267;g278dd1e3212_0_176:notes">
            <a:extLst>
              <a:ext uri="{FF2B5EF4-FFF2-40B4-BE49-F238E27FC236}">
                <a16:creationId xmlns:a16="http://schemas.microsoft.com/office/drawing/2014/main" id="{73C8EDB9-6DA5-27E5-2392-2E2DD53E676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94480862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9">
          <a:extLst>
            <a:ext uri="{FF2B5EF4-FFF2-40B4-BE49-F238E27FC236}">
              <a16:creationId xmlns:a16="http://schemas.microsoft.com/office/drawing/2014/main" id="{9EBD75BE-9964-F6C4-E5BF-CA7F4682A6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0" name="Google Shape;280;g279297f6f4e_2_0:notes">
            <a:extLst>
              <a:ext uri="{FF2B5EF4-FFF2-40B4-BE49-F238E27FC236}">
                <a16:creationId xmlns:a16="http://schemas.microsoft.com/office/drawing/2014/main" id="{36FF035B-3BCF-726F-FB3E-6430CDF55A3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1" name="Google Shape;281;g279297f6f4e_2_0:notes">
            <a:extLst>
              <a:ext uri="{FF2B5EF4-FFF2-40B4-BE49-F238E27FC236}">
                <a16:creationId xmlns:a16="http://schemas.microsoft.com/office/drawing/2014/main" id="{7230FA92-A985-9C40-35ED-BCEDD0EA9A0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66335392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9">
          <a:extLst>
            <a:ext uri="{FF2B5EF4-FFF2-40B4-BE49-F238E27FC236}">
              <a16:creationId xmlns:a16="http://schemas.microsoft.com/office/drawing/2014/main" id="{E163D09F-48EE-E5EC-2FDA-6D6C003B1D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0" name="Google Shape;280;g279297f6f4e_2_0:notes">
            <a:extLst>
              <a:ext uri="{FF2B5EF4-FFF2-40B4-BE49-F238E27FC236}">
                <a16:creationId xmlns:a16="http://schemas.microsoft.com/office/drawing/2014/main" id="{487A4559-C933-6A34-6078-F92932DAD0E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1" name="Google Shape;281;g279297f6f4e_2_0:notes">
            <a:extLst>
              <a:ext uri="{FF2B5EF4-FFF2-40B4-BE49-F238E27FC236}">
                <a16:creationId xmlns:a16="http://schemas.microsoft.com/office/drawing/2014/main" id="{6C0982D8-66E8-E746-416D-D1CAE13B749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362930602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9">
          <a:extLst>
            <a:ext uri="{FF2B5EF4-FFF2-40B4-BE49-F238E27FC236}">
              <a16:creationId xmlns:a16="http://schemas.microsoft.com/office/drawing/2014/main" id="{464658D5-CCB4-7BCF-01C5-3FFA1F5C5A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0" name="Google Shape;280;g279297f6f4e_2_0:notes">
            <a:extLst>
              <a:ext uri="{FF2B5EF4-FFF2-40B4-BE49-F238E27FC236}">
                <a16:creationId xmlns:a16="http://schemas.microsoft.com/office/drawing/2014/main" id="{858F8E24-2AFA-8D50-327C-ABD3CD9DA63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1" name="Google Shape;281;g279297f6f4e_2_0:notes">
            <a:extLst>
              <a:ext uri="{FF2B5EF4-FFF2-40B4-BE49-F238E27FC236}">
                <a16:creationId xmlns:a16="http://schemas.microsoft.com/office/drawing/2014/main" id="{0A5F48AC-78B5-565D-3D2B-18873667DF3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285790207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2" name="Google Shape;322;g279297f6f4e_2_7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3" name="Google Shape;323;g279297f6f4e_2_7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9">
          <a:extLst>
            <a:ext uri="{FF2B5EF4-FFF2-40B4-BE49-F238E27FC236}">
              <a16:creationId xmlns:a16="http://schemas.microsoft.com/office/drawing/2014/main" id="{1D37BA98-F19D-5486-E825-18EC67B23B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0" name="Google Shape;280;g279297f6f4e_2_0:notes">
            <a:extLst>
              <a:ext uri="{FF2B5EF4-FFF2-40B4-BE49-F238E27FC236}">
                <a16:creationId xmlns:a16="http://schemas.microsoft.com/office/drawing/2014/main" id="{238E9335-32D2-9B38-84B2-0C9F47D13ED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1" name="Google Shape;281;g279297f6f4e_2_0:notes">
            <a:extLst>
              <a:ext uri="{FF2B5EF4-FFF2-40B4-BE49-F238E27FC236}">
                <a16:creationId xmlns:a16="http://schemas.microsoft.com/office/drawing/2014/main" id="{CF3D7C12-82CF-7E0F-A84F-E058AD25219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166097586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9">
          <a:extLst>
            <a:ext uri="{FF2B5EF4-FFF2-40B4-BE49-F238E27FC236}">
              <a16:creationId xmlns:a16="http://schemas.microsoft.com/office/drawing/2014/main" id="{62190706-B600-0925-E31B-577AA5099B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0" name="Google Shape;280;g279297f6f4e_2_0:notes">
            <a:extLst>
              <a:ext uri="{FF2B5EF4-FFF2-40B4-BE49-F238E27FC236}">
                <a16:creationId xmlns:a16="http://schemas.microsoft.com/office/drawing/2014/main" id="{592CF96C-CBB9-8D70-81D2-8F750FF7E0C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1" name="Google Shape;281;g279297f6f4e_2_0:notes">
            <a:extLst>
              <a:ext uri="{FF2B5EF4-FFF2-40B4-BE49-F238E27FC236}">
                <a16:creationId xmlns:a16="http://schemas.microsoft.com/office/drawing/2014/main" id="{CA07635C-B4F6-754B-5634-50DE69433EA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139243393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9">
          <a:extLst>
            <a:ext uri="{FF2B5EF4-FFF2-40B4-BE49-F238E27FC236}">
              <a16:creationId xmlns:a16="http://schemas.microsoft.com/office/drawing/2014/main" id="{EE4A30DC-4839-B041-8800-7855296AB3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0" name="Google Shape;280;g279297f6f4e_2_0:notes">
            <a:extLst>
              <a:ext uri="{FF2B5EF4-FFF2-40B4-BE49-F238E27FC236}">
                <a16:creationId xmlns:a16="http://schemas.microsoft.com/office/drawing/2014/main" id="{6DA2856A-0B23-1DAD-3A63-7CD650AD11B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1" name="Google Shape;281;g279297f6f4e_2_0:notes">
            <a:extLst>
              <a:ext uri="{FF2B5EF4-FFF2-40B4-BE49-F238E27FC236}">
                <a16:creationId xmlns:a16="http://schemas.microsoft.com/office/drawing/2014/main" id="{C514F564-3DE7-4B33-82EE-7C49A46B4A3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641218890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1" name="Google Shape;331;g279297f6f4e_2_7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2" name="Google Shape;332;g279297f6f4e_2_7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0">
          <a:extLst>
            <a:ext uri="{FF2B5EF4-FFF2-40B4-BE49-F238E27FC236}">
              <a16:creationId xmlns:a16="http://schemas.microsoft.com/office/drawing/2014/main" id="{61A5C7C9-DB55-A35A-ACAE-AC0226DF67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1" name="Google Shape;331;g279297f6f4e_2_79:notes">
            <a:extLst>
              <a:ext uri="{FF2B5EF4-FFF2-40B4-BE49-F238E27FC236}">
                <a16:creationId xmlns:a16="http://schemas.microsoft.com/office/drawing/2014/main" id="{45EF13ED-6C97-A80E-9D98-4654C650CB0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2" name="Google Shape;332;g279297f6f4e_2_79:notes">
            <a:extLst>
              <a:ext uri="{FF2B5EF4-FFF2-40B4-BE49-F238E27FC236}">
                <a16:creationId xmlns:a16="http://schemas.microsoft.com/office/drawing/2014/main" id="{94152A0B-4C09-9B7A-D212-879CE7F66FE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73424945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oogle Shape;9;p2"/>
          <p:cNvSpPr/>
          <p:nvPr/>
        </p:nvSpPr>
        <p:spPr>
          <a:xfrm>
            <a:off x="189600" y="207750"/>
            <a:ext cx="8764800" cy="47280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1669800" y="1034675"/>
            <a:ext cx="5804400" cy="1819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8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1669800" y="3423550"/>
            <a:ext cx="5804400" cy="409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3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Google Shape;13;p3"/>
          <p:cNvSpPr/>
          <p:nvPr/>
        </p:nvSpPr>
        <p:spPr>
          <a:xfrm>
            <a:off x="189600" y="207750"/>
            <a:ext cx="8764800" cy="47280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1041106" y="2705343"/>
            <a:ext cx="3387300" cy="677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8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title" idx="2" hasCustomPrompt="1"/>
          </p:nvPr>
        </p:nvSpPr>
        <p:spPr>
          <a:xfrm>
            <a:off x="2084956" y="1608057"/>
            <a:ext cx="1299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>
            <a:r>
              <a:t>xx%</a:t>
            </a:r>
          </a:p>
        </p:txBody>
      </p:sp>
      <p:sp>
        <p:nvSpPr>
          <p:cNvPr id="16" name="Google Shape;16;p3"/>
          <p:cNvSpPr>
            <a:spLocks noGrp="1"/>
          </p:cNvSpPr>
          <p:nvPr>
            <p:ph type="pic" idx="3"/>
          </p:nvPr>
        </p:nvSpPr>
        <p:spPr>
          <a:xfrm>
            <a:off x="5011994" y="602401"/>
            <a:ext cx="3166500" cy="3938700"/>
          </a:xfrm>
          <a:prstGeom prst="rect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5"/>
          <p:cNvSpPr/>
          <p:nvPr/>
        </p:nvSpPr>
        <p:spPr>
          <a:xfrm>
            <a:off x="189600" y="207750"/>
            <a:ext cx="8764800" cy="47280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" name="Google Shape;26;p5"/>
          <p:cNvSpPr txBox="1">
            <a:spLocks noGrp="1"/>
          </p:cNvSpPr>
          <p:nvPr>
            <p:ph type="subTitle" idx="1"/>
          </p:nvPr>
        </p:nvSpPr>
        <p:spPr>
          <a:xfrm>
            <a:off x="1489364" y="1593175"/>
            <a:ext cx="2731500" cy="871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Elsie"/>
              <a:buNone/>
              <a:defRPr sz="2000" i="1">
                <a:solidFill>
                  <a:schemeClr val="dk1"/>
                </a:solidFill>
                <a:latin typeface="Elsie"/>
                <a:ea typeface="Elsie"/>
                <a:cs typeface="Elsie"/>
                <a:sym typeface="Elsie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Elsie"/>
              <a:buNone/>
              <a:defRPr sz="2400" i="1">
                <a:solidFill>
                  <a:schemeClr val="dk1"/>
                </a:solidFill>
                <a:latin typeface="Elsie"/>
                <a:ea typeface="Elsie"/>
                <a:cs typeface="Elsie"/>
                <a:sym typeface="Elsi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Elsie"/>
              <a:buNone/>
              <a:defRPr sz="2400" i="1">
                <a:solidFill>
                  <a:schemeClr val="dk1"/>
                </a:solidFill>
                <a:latin typeface="Elsie"/>
                <a:ea typeface="Elsie"/>
                <a:cs typeface="Elsie"/>
                <a:sym typeface="Elsi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Elsie"/>
              <a:buNone/>
              <a:defRPr sz="2400" i="1">
                <a:solidFill>
                  <a:schemeClr val="dk1"/>
                </a:solidFill>
                <a:latin typeface="Elsie"/>
                <a:ea typeface="Elsie"/>
                <a:cs typeface="Elsie"/>
                <a:sym typeface="Elsi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Elsie"/>
              <a:buNone/>
              <a:defRPr sz="2400" i="1">
                <a:solidFill>
                  <a:schemeClr val="dk1"/>
                </a:solidFill>
                <a:latin typeface="Elsie"/>
                <a:ea typeface="Elsie"/>
                <a:cs typeface="Elsie"/>
                <a:sym typeface="Elsi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Elsie"/>
              <a:buNone/>
              <a:defRPr sz="2400" i="1">
                <a:solidFill>
                  <a:schemeClr val="dk1"/>
                </a:solidFill>
                <a:latin typeface="Elsie"/>
                <a:ea typeface="Elsie"/>
                <a:cs typeface="Elsie"/>
                <a:sym typeface="Elsi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Elsie"/>
              <a:buNone/>
              <a:defRPr sz="2400" i="1">
                <a:solidFill>
                  <a:schemeClr val="dk1"/>
                </a:solidFill>
                <a:latin typeface="Elsie"/>
                <a:ea typeface="Elsie"/>
                <a:cs typeface="Elsie"/>
                <a:sym typeface="Elsi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Elsie"/>
              <a:buNone/>
              <a:defRPr sz="2400" i="1">
                <a:solidFill>
                  <a:schemeClr val="dk1"/>
                </a:solidFill>
                <a:latin typeface="Elsie"/>
                <a:ea typeface="Elsie"/>
                <a:cs typeface="Elsie"/>
                <a:sym typeface="Elsi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Elsie"/>
              <a:buNone/>
              <a:defRPr sz="2400" i="1">
                <a:solidFill>
                  <a:schemeClr val="dk1"/>
                </a:solidFill>
                <a:latin typeface="Elsie"/>
                <a:ea typeface="Elsie"/>
                <a:cs typeface="Elsie"/>
                <a:sym typeface="Elsie"/>
              </a:defRPr>
            </a:lvl9pPr>
          </a:lstStyle>
          <a:p>
            <a:endParaRPr/>
          </a:p>
        </p:txBody>
      </p:sp>
      <p:sp>
        <p:nvSpPr>
          <p:cNvPr id="27" name="Google Shape;27;p5"/>
          <p:cNvSpPr txBox="1">
            <a:spLocks noGrp="1"/>
          </p:cNvSpPr>
          <p:nvPr>
            <p:ph type="subTitle" idx="2"/>
          </p:nvPr>
        </p:nvSpPr>
        <p:spPr>
          <a:xfrm>
            <a:off x="4923136" y="1593175"/>
            <a:ext cx="2731500" cy="871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Elsie"/>
              <a:buNone/>
              <a:defRPr sz="2000" i="1">
                <a:solidFill>
                  <a:schemeClr val="dk1"/>
                </a:solidFill>
                <a:latin typeface="Elsie"/>
                <a:ea typeface="Elsie"/>
                <a:cs typeface="Elsie"/>
                <a:sym typeface="Elsie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Elsie"/>
              <a:buNone/>
              <a:defRPr sz="2400" i="1">
                <a:solidFill>
                  <a:schemeClr val="dk1"/>
                </a:solidFill>
                <a:latin typeface="Elsie"/>
                <a:ea typeface="Elsie"/>
                <a:cs typeface="Elsie"/>
                <a:sym typeface="Elsi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Elsie"/>
              <a:buNone/>
              <a:defRPr sz="2400" i="1">
                <a:solidFill>
                  <a:schemeClr val="dk1"/>
                </a:solidFill>
                <a:latin typeface="Elsie"/>
                <a:ea typeface="Elsie"/>
                <a:cs typeface="Elsie"/>
                <a:sym typeface="Elsi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Elsie"/>
              <a:buNone/>
              <a:defRPr sz="2400" i="1">
                <a:solidFill>
                  <a:schemeClr val="dk1"/>
                </a:solidFill>
                <a:latin typeface="Elsie"/>
                <a:ea typeface="Elsie"/>
                <a:cs typeface="Elsie"/>
                <a:sym typeface="Elsi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Elsie"/>
              <a:buNone/>
              <a:defRPr sz="2400" i="1">
                <a:solidFill>
                  <a:schemeClr val="dk1"/>
                </a:solidFill>
                <a:latin typeface="Elsie"/>
                <a:ea typeface="Elsie"/>
                <a:cs typeface="Elsie"/>
                <a:sym typeface="Elsi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Elsie"/>
              <a:buNone/>
              <a:defRPr sz="2400" i="1">
                <a:solidFill>
                  <a:schemeClr val="dk1"/>
                </a:solidFill>
                <a:latin typeface="Elsie"/>
                <a:ea typeface="Elsie"/>
                <a:cs typeface="Elsie"/>
                <a:sym typeface="Elsi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Elsie"/>
              <a:buNone/>
              <a:defRPr sz="2400" i="1">
                <a:solidFill>
                  <a:schemeClr val="dk1"/>
                </a:solidFill>
                <a:latin typeface="Elsie"/>
                <a:ea typeface="Elsie"/>
                <a:cs typeface="Elsie"/>
                <a:sym typeface="Elsi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Elsie"/>
              <a:buNone/>
              <a:defRPr sz="2400" i="1">
                <a:solidFill>
                  <a:schemeClr val="dk1"/>
                </a:solidFill>
                <a:latin typeface="Elsie"/>
                <a:ea typeface="Elsie"/>
                <a:cs typeface="Elsie"/>
                <a:sym typeface="Elsi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Elsie"/>
              <a:buNone/>
              <a:defRPr sz="2400" i="1">
                <a:solidFill>
                  <a:schemeClr val="dk1"/>
                </a:solidFill>
                <a:latin typeface="Elsie"/>
                <a:ea typeface="Elsie"/>
                <a:cs typeface="Elsie"/>
                <a:sym typeface="Elsie"/>
              </a:defRPr>
            </a:lvl9pPr>
          </a:lstStyle>
          <a:p>
            <a:endParaRPr/>
          </a:p>
        </p:txBody>
      </p:sp>
      <p:sp>
        <p:nvSpPr>
          <p:cNvPr id="28" name="Google Shape;28;p5"/>
          <p:cNvSpPr txBox="1">
            <a:spLocks noGrp="1"/>
          </p:cNvSpPr>
          <p:nvPr>
            <p:ph type="subTitle" idx="3"/>
          </p:nvPr>
        </p:nvSpPr>
        <p:spPr>
          <a:xfrm>
            <a:off x="1489364" y="2464625"/>
            <a:ext cx="2731500" cy="1704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5"/>
          <p:cNvSpPr txBox="1">
            <a:spLocks noGrp="1"/>
          </p:cNvSpPr>
          <p:nvPr>
            <p:ph type="subTitle" idx="4"/>
          </p:nvPr>
        </p:nvSpPr>
        <p:spPr>
          <a:xfrm>
            <a:off x="4923136" y="2464625"/>
            <a:ext cx="2731500" cy="1704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30" name="Google Shape;30;p5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grpSp>
        <p:nvGrpSpPr>
          <p:cNvPr id="31" name="Google Shape;31;p5"/>
          <p:cNvGrpSpPr/>
          <p:nvPr/>
        </p:nvGrpSpPr>
        <p:grpSpPr>
          <a:xfrm>
            <a:off x="327234" y="379450"/>
            <a:ext cx="8436616" cy="4426753"/>
            <a:chOff x="327234" y="379450"/>
            <a:chExt cx="8436616" cy="4426753"/>
          </a:xfrm>
        </p:grpSpPr>
        <p:cxnSp>
          <p:nvCxnSpPr>
            <p:cNvPr id="32" name="Google Shape;32;p5"/>
            <p:cNvCxnSpPr/>
            <p:nvPr/>
          </p:nvCxnSpPr>
          <p:spPr>
            <a:xfrm>
              <a:off x="6775450" y="379450"/>
              <a:ext cx="1988400" cy="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33" name="Google Shape;33;p5"/>
            <p:cNvSpPr/>
            <p:nvPr/>
          </p:nvSpPr>
          <p:spPr>
            <a:xfrm>
              <a:off x="327234" y="4608503"/>
              <a:ext cx="197700" cy="197700"/>
            </a:xfrm>
            <a:prstGeom prst="plaque">
              <a:avLst>
                <a:gd name="adj" fmla="val 50000"/>
              </a:avLst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/>
          <p:nvPr/>
        </p:nvSpPr>
        <p:spPr>
          <a:xfrm>
            <a:off x="189600" y="207750"/>
            <a:ext cx="8764800" cy="47280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1" name="Google Shape;51;p8"/>
          <p:cNvSpPr txBox="1">
            <a:spLocks noGrp="1"/>
          </p:cNvSpPr>
          <p:nvPr>
            <p:ph type="title"/>
          </p:nvPr>
        </p:nvSpPr>
        <p:spPr>
          <a:xfrm>
            <a:off x="1388100" y="1307100"/>
            <a:ext cx="6367800" cy="2529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>
            <a:endParaRPr/>
          </a:p>
        </p:txBody>
      </p:sp>
      <p:grpSp>
        <p:nvGrpSpPr>
          <p:cNvPr id="52" name="Google Shape;52;p8"/>
          <p:cNvGrpSpPr/>
          <p:nvPr/>
        </p:nvGrpSpPr>
        <p:grpSpPr>
          <a:xfrm>
            <a:off x="327234" y="379450"/>
            <a:ext cx="8436616" cy="4426753"/>
            <a:chOff x="327234" y="379450"/>
            <a:chExt cx="8436616" cy="4426753"/>
          </a:xfrm>
        </p:grpSpPr>
        <p:cxnSp>
          <p:nvCxnSpPr>
            <p:cNvPr id="53" name="Google Shape;53;p8"/>
            <p:cNvCxnSpPr/>
            <p:nvPr/>
          </p:nvCxnSpPr>
          <p:spPr>
            <a:xfrm>
              <a:off x="6775450" y="379450"/>
              <a:ext cx="1988400" cy="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54" name="Google Shape;54;p8"/>
            <p:cNvSpPr/>
            <p:nvPr/>
          </p:nvSpPr>
          <p:spPr>
            <a:xfrm>
              <a:off x="327234" y="4608503"/>
              <a:ext cx="197700" cy="197700"/>
            </a:xfrm>
            <a:prstGeom prst="plaque">
              <a:avLst>
                <a:gd name="adj" fmla="val 50000"/>
              </a:avLst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9"/>
          <p:cNvSpPr/>
          <p:nvPr/>
        </p:nvSpPr>
        <p:spPr>
          <a:xfrm>
            <a:off x="189600" y="207750"/>
            <a:ext cx="8764800" cy="47280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7" name="Google Shape;57;p9"/>
          <p:cNvSpPr txBox="1">
            <a:spLocks noGrp="1"/>
          </p:cNvSpPr>
          <p:nvPr>
            <p:ph type="title"/>
          </p:nvPr>
        </p:nvSpPr>
        <p:spPr>
          <a:xfrm>
            <a:off x="720000" y="367423"/>
            <a:ext cx="7704000" cy="841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45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58" name="Google Shape;58;p9"/>
          <p:cNvSpPr txBox="1">
            <a:spLocks noGrp="1"/>
          </p:cNvSpPr>
          <p:nvPr>
            <p:ph type="subTitle" idx="1"/>
          </p:nvPr>
        </p:nvSpPr>
        <p:spPr>
          <a:xfrm>
            <a:off x="2241550" y="1348750"/>
            <a:ext cx="4661100" cy="168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600"/>
            </a:lvl1pPr>
            <a:lvl2pPr lvl="1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200"/>
              <a:buNone/>
              <a:defRPr/>
            </a:lvl9pPr>
          </a:lstStyle>
          <a:p>
            <a:endParaRPr/>
          </a:p>
        </p:txBody>
      </p:sp>
      <p:grpSp>
        <p:nvGrpSpPr>
          <p:cNvPr id="59" name="Google Shape;59;p9"/>
          <p:cNvGrpSpPr/>
          <p:nvPr/>
        </p:nvGrpSpPr>
        <p:grpSpPr>
          <a:xfrm>
            <a:off x="319434" y="1602875"/>
            <a:ext cx="197700" cy="2279650"/>
            <a:chOff x="319434" y="1213925"/>
            <a:chExt cx="197700" cy="2279650"/>
          </a:xfrm>
        </p:grpSpPr>
        <p:sp>
          <p:nvSpPr>
            <p:cNvPr id="60" name="Google Shape;60;p9"/>
            <p:cNvSpPr/>
            <p:nvPr/>
          </p:nvSpPr>
          <p:spPr>
            <a:xfrm>
              <a:off x="319434" y="2254909"/>
              <a:ext cx="197700" cy="197700"/>
            </a:xfrm>
            <a:prstGeom prst="plaque">
              <a:avLst>
                <a:gd name="adj" fmla="val 50000"/>
              </a:avLst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cxnSp>
          <p:nvCxnSpPr>
            <p:cNvPr id="61" name="Google Shape;61;p9"/>
            <p:cNvCxnSpPr/>
            <p:nvPr/>
          </p:nvCxnSpPr>
          <p:spPr>
            <a:xfrm>
              <a:off x="418275" y="1213925"/>
              <a:ext cx="0" cy="95880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62" name="Google Shape;62;p9"/>
            <p:cNvCxnSpPr/>
            <p:nvPr/>
          </p:nvCxnSpPr>
          <p:spPr>
            <a:xfrm>
              <a:off x="418275" y="2534775"/>
              <a:ext cx="0" cy="95880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grpSp>
        <p:nvGrpSpPr>
          <p:cNvPr id="63" name="Google Shape;63;p9"/>
          <p:cNvGrpSpPr/>
          <p:nvPr/>
        </p:nvGrpSpPr>
        <p:grpSpPr>
          <a:xfrm>
            <a:off x="8629034" y="1602875"/>
            <a:ext cx="197700" cy="2279650"/>
            <a:chOff x="319434" y="1213925"/>
            <a:chExt cx="197700" cy="2279650"/>
          </a:xfrm>
        </p:grpSpPr>
        <p:sp>
          <p:nvSpPr>
            <p:cNvPr id="64" name="Google Shape;64;p9"/>
            <p:cNvSpPr/>
            <p:nvPr/>
          </p:nvSpPr>
          <p:spPr>
            <a:xfrm>
              <a:off x="319434" y="2254909"/>
              <a:ext cx="197700" cy="197700"/>
            </a:xfrm>
            <a:prstGeom prst="plaque">
              <a:avLst>
                <a:gd name="adj" fmla="val 50000"/>
              </a:avLst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cxnSp>
          <p:nvCxnSpPr>
            <p:cNvPr id="65" name="Google Shape;65;p9"/>
            <p:cNvCxnSpPr/>
            <p:nvPr/>
          </p:nvCxnSpPr>
          <p:spPr>
            <a:xfrm>
              <a:off x="418275" y="1213925"/>
              <a:ext cx="0" cy="95880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66" name="Google Shape;66;p9"/>
            <p:cNvCxnSpPr/>
            <p:nvPr/>
          </p:nvCxnSpPr>
          <p:spPr>
            <a:xfrm>
              <a:off x="418275" y="2534775"/>
              <a:ext cx="0" cy="95880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solidFill>
          <a:schemeClr val="dk2"/>
        </a:solidFill>
        <a:effectLst/>
      </p:bgPr>
    </p:bg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able of contents">
  <p:cSld name="BLANK_1">
    <p:spTree>
      <p:nvGrpSpPr>
        <p:cNvPr id="1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13"/>
          <p:cNvSpPr/>
          <p:nvPr/>
        </p:nvSpPr>
        <p:spPr>
          <a:xfrm>
            <a:off x="189600" y="207750"/>
            <a:ext cx="8764800" cy="47280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7" name="Google Shape;77;p13"/>
          <p:cNvSpPr txBox="1">
            <a:spLocks noGrp="1"/>
          </p:cNvSpPr>
          <p:nvPr>
            <p:ph type="title" hasCustomPrompt="1"/>
          </p:nvPr>
        </p:nvSpPr>
        <p:spPr>
          <a:xfrm>
            <a:off x="1895480" y="1396625"/>
            <a:ext cx="1114200" cy="593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78" name="Google Shape;78;p13"/>
          <p:cNvSpPr txBox="1">
            <a:spLocks noGrp="1"/>
          </p:cNvSpPr>
          <p:nvPr>
            <p:ph type="title" idx="2" hasCustomPrompt="1"/>
          </p:nvPr>
        </p:nvSpPr>
        <p:spPr>
          <a:xfrm>
            <a:off x="4015966" y="1396625"/>
            <a:ext cx="1114200" cy="593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79" name="Google Shape;79;p13"/>
          <p:cNvSpPr txBox="1">
            <a:spLocks noGrp="1"/>
          </p:cNvSpPr>
          <p:nvPr>
            <p:ph type="title" idx="3" hasCustomPrompt="1"/>
          </p:nvPr>
        </p:nvSpPr>
        <p:spPr>
          <a:xfrm>
            <a:off x="6134312" y="1396625"/>
            <a:ext cx="1114200" cy="593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80" name="Google Shape;80;p13"/>
          <p:cNvSpPr txBox="1">
            <a:spLocks noGrp="1"/>
          </p:cNvSpPr>
          <p:nvPr>
            <p:ph type="title" idx="4" hasCustomPrompt="1"/>
          </p:nvPr>
        </p:nvSpPr>
        <p:spPr>
          <a:xfrm>
            <a:off x="1895480" y="2805025"/>
            <a:ext cx="1114200" cy="593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81" name="Google Shape;81;p13"/>
          <p:cNvSpPr txBox="1">
            <a:spLocks noGrp="1"/>
          </p:cNvSpPr>
          <p:nvPr>
            <p:ph type="title" idx="5" hasCustomPrompt="1"/>
          </p:nvPr>
        </p:nvSpPr>
        <p:spPr>
          <a:xfrm>
            <a:off x="4015966" y="2805025"/>
            <a:ext cx="1114200" cy="593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82" name="Google Shape;82;p13"/>
          <p:cNvSpPr txBox="1">
            <a:spLocks noGrp="1"/>
          </p:cNvSpPr>
          <p:nvPr>
            <p:ph type="title" idx="6" hasCustomPrompt="1"/>
          </p:nvPr>
        </p:nvSpPr>
        <p:spPr>
          <a:xfrm>
            <a:off x="6134312" y="2805025"/>
            <a:ext cx="1114200" cy="593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83" name="Google Shape;83;p13"/>
          <p:cNvSpPr txBox="1">
            <a:spLocks noGrp="1"/>
          </p:cNvSpPr>
          <p:nvPr>
            <p:ph type="title" idx="7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sp>
        <p:nvSpPr>
          <p:cNvPr id="84" name="Google Shape;84;p13"/>
          <p:cNvSpPr txBox="1">
            <a:spLocks noGrp="1"/>
          </p:cNvSpPr>
          <p:nvPr>
            <p:ph type="subTitle" idx="1"/>
          </p:nvPr>
        </p:nvSpPr>
        <p:spPr>
          <a:xfrm>
            <a:off x="1431980" y="1990025"/>
            <a:ext cx="2041200" cy="5727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Elsie"/>
              <a:buNone/>
              <a:defRPr sz="2000" i="1">
                <a:solidFill>
                  <a:schemeClr val="dk1"/>
                </a:solidFill>
                <a:latin typeface="Elsie"/>
                <a:ea typeface="Elsie"/>
                <a:cs typeface="Elsie"/>
                <a:sym typeface="Elsie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Elsie"/>
              <a:buNone/>
              <a:defRPr sz="2400" i="1">
                <a:solidFill>
                  <a:schemeClr val="dk1"/>
                </a:solidFill>
                <a:latin typeface="Elsie"/>
                <a:ea typeface="Elsie"/>
                <a:cs typeface="Elsie"/>
                <a:sym typeface="Elsie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Elsie"/>
              <a:buNone/>
              <a:defRPr sz="2400" i="1">
                <a:solidFill>
                  <a:schemeClr val="dk1"/>
                </a:solidFill>
                <a:latin typeface="Elsie"/>
                <a:ea typeface="Elsie"/>
                <a:cs typeface="Elsie"/>
                <a:sym typeface="Elsie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Elsie"/>
              <a:buNone/>
              <a:defRPr sz="2400" i="1">
                <a:solidFill>
                  <a:schemeClr val="dk1"/>
                </a:solidFill>
                <a:latin typeface="Elsie"/>
                <a:ea typeface="Elsie"/>
                <a:cs typeface="Elsie"/>
                <a:sym typeface="Elsie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Elsie"/>
              <a:buNone/>
              <a:defRPr sz="2400" i="1">
                <a:solidFill>
                  <a:schemeClr val="dk1"/>
                </a:solidFill>
                <a:latin typeface="Elsie"/>
                <a:ea typeface="Elsie"/>
                <a:cs typeface="Elsie"/>
                <a:sym typeface="Elsie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Elsie"/>
              <a:buNone/>
              <a:defRPr sz="2400" i="1">
                <a:solidFill>
                  <a:schemeClr val="dk1"/>
                </a:solidFill>
                <a:latin typeface="Elsie"/>
                <a:ea typeface="Elsie"/>
                <a:cs typeface="Elsie"/>
                <a:sym typeface="Elsie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Elsie"/>
              <a:buNone/>
              <a:defRPr sz="2400" i="1">
                <a:solidFill>
                  <a:schemeClr val="dk1"/>
                </a:solidFill>
                <a:latin typeface="Elsie"/>
                <a:ea typeface="Elsie"/>
                <a:cs typeface="Elsie"/>
                <a:sym typeface="Elsie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Elsie"/>
              <a:buNone/>
              <a:defRPr sz="2400" i="1">
                <a:solidFill>
                  <a:schemeClr val="dk1"/>
                </a:solidFill>
                <a:latin typeface="Elsie"/>
                <a:ea typeface="Elsie"/>
                <a:cs typeface="Elsie"/>
                <a:sym typeface="Elsie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Elsie"/>
              <a:buNone/>
              <a:defRPr sz="2400" i="1">
                <a:solidFill>
                  <a:schemeClr val="dk1"/>
                </a:solidFill>
                <a:latin typeface="Elsie"/>
                <a:ea typeface="Elsie"/>
                <a:cs typeface="Elsie"/>
                <a:sym typeface="Elsie"/>
              </a:defRPr>
            </a:lvl9pPr>
          </a:lstStyle>
          <a:p>
            <a:endParaRPr/>
          </a:p>
        </p:txBody>
      </p:sp>
      <p:sp>
        <p:nvSpPr>
          <p:cNvPr id="85" name="Google Shape;85;p13"/>
          <p:cNvSpPr txBox="1">
            <a:spLocks noGrp="1"/>
          </p:cNvSpPr>
          <p:nvPr>
            <p:ph type="subTitle" idx="8"/>
          </p:nvPr>
        </p:nvSpPr>
        <p:spPr>
          <a:xfrm>
            <a:off x="3552466" y="1990025"/>
            <a:ext cx="2041200" cy="5727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Elsie"/>
              <a:buNone/>
              <a:defRPr sz="2000" i="1">
                <a:solidFill>
                  <a:schemeClr val="dk1"/>
                </a:solidFill>
                <a:latin typeface="Elsie"/>
                <a:ea typeface="Elsie"/>
                <a:cs typeface="Elsie"/>
                <a:sym typeface="Elsie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Elsie"/>
              <a:buNone/>
              <a:defRPr sz="2400" i="1">
                <a:solidFill>
                  <a:schemeClr val="dk1"/>
                </a:solidFill>
                <a:latin typeface="Elsie"/>
                <a:ea typeface="Elsie"/>
                <a:cs typeface="Elsie"/>
                <a:sym typeface="Elsie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Elsie"/>
              <a:buNone/>
              <a:defRPr sz="2400" i="1">
                <a:solidFill>
                  <a:schemeClr val="dk1"/>
                </a:solidFill>
                <a:latin typeface="Elsie"/>
                <a:ea typeface="Elsie"/>
                <a:cs typeface="Elsie"/>
                <a:sym typeface="Elsie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Elsie"/>
              <a:buNone/>
              <a:defRPr sz="2400" i="1">
                <a:solidFill>
                  <a:schemeClr val="dk1"/>
                </a:solidFill>
                <a:latin typeface="Elsie"/>
                <a:ea typeface="Elsie"/>
                <a:cs typeface="Elsie"/>
                <a:sym typeface="Elsie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Elsie"/>
              <a:buNone/>
              <a:defRPr sz="2400" i="1">
                <a:solidFill>
                  <a:schemeClr val="dk1"/>
                </a:solidFill>
                <a:latin typeface="Elsie"/>
                <a:ea typeface="Elsie"/>
                <a:cs typeface="Elsie"/>
                <a:sym typeface="Elsie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Elsie"/>
              <a:buNone/>
              <a:defRPr sz="2400" i="1">
                <a:solidFill>
                  <a:schemeClr val="dk1"/>
                </a:solidFill>
                <a:latin typeface="Elsie"/>
                <a:ea typeface="Elsie"/>
                <a:cs typeface="Elsie"/>
                <a:sym typeface="Elsie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Elsie"/>
              <a:buNone/>
              <a:defRPr sz="2400" i="1">
                <a:solidFill>
                  <a:schemeClr val="dk1"/>
                </a:solidFill>
                <a:latin typeface="Elsie"/>
                <a:ea typeface="Elsie"/>
                <a:cs typeface="Elsie"/>
                <a:sym typeface="Elsie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Elsie"/>
              <a:buNone/>
              <a:defRPr sz="2400" i="1">
                <a:solidFill>
                  <a:schemeClr val="dk1"/>
                </a:solidFill>
                <a:latin typeface="Elsie"/>
                <a:ea typeface="Elsie"/>
                <a:cs typeface="Elsie"/>
                <a:sym typeface="Elsie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Elsie"/>
              <a:buNone/>
              <a:defRPr sz="2400" i="1">
                <a:solidFill>
                  <a:schemeClr val="dk1"/>
                </a:solidFill>
                <a:latin typeface="Elsie"/>
                <a:ea typeface="Elsie"/>
                <a:cs typeface="Elsie"/>
                <a:sym typeface="Elsie"/>
              </a:defRPr>
            </a:lvl9pPr>
          </a:lstStyle>
          <a:p>
            <a:endParaRPr/>
          </a:p>
        </p:txBody>
      </p:sp>
      <p:sp>
        <p:nvSpPr>
          <p:cNvPr id="86" name="Google Shape;86;p13"/>
          <p:cNvSpPr txBox="1">
            <a:spLocks noGrp="1"/>
          </p:cNvSpPr>
          <p:nvPr>
            <p:ph type="subTitle" idx="9"/>
          </p:nvPr>
        </p:nvSpPr>
        <p:spPr>
          <a:xfrm>
            <a:off x="5670812" y="1990025"/>
            <a:ext cx="2041200" cy="5727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Elsie"/>
              <a:buNone/>
              <a:defRPr sz="2000" i="1">
                <a:solidFill>
                  <a:schemeClr val="dk1"/>
                </a:solidFill>
                <a:latin typeface="Elsie"/>
                <a:ea typeface="Elsie"/>
                <a:cs typeface="Elsie"/>
                <a:sym typeface="Elsie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Elsie"/>
              <a:buNone/>
              <a:defRPr sz="2400" i="1">
                <a:solidFill>
                  <a:schemeClr val="dk1"/>
                </a:solidFill>
                <a:latin typeface="Elsie"/>
                <a:ea typeface="Elsie"/>
                <a:cs typeface="Elsie"/>
                <a:sym typeface="Elsie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Elsie"/>
              <a:buNone/>
              <a:defRPr sz="2400" i="1">
                <a:solidFill>
                  <a:schemeClr val="dk1"/>
                </a:solidFill>
                <a:latin typeface="Elsie"/>
                <a:ea typeface="Elsie"/>
                <a:cs typeface="Elsie"/>
                <a:sym typeface="Elsie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Elsie"/>
              <a:buNone/>
              <a:defRPr sz="2400" i="1">
                <a:solidFill>
                  <a:schemeClr val="dk1"/>
                </a:solidFill>
                <a:latin typeface="Elsie"/>
                <a:ea typeface="Elsie"/>
                <a:cs typeface="Elsie"/>
                <a:sym typeface="Elsie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Elsie"/>
              <a:buNone/>
              <a:defRPr sz="2400" i="1">
                <a:solidFill>
                  <a:schemeClr val="dk1"/>
                </a:solidFill>
                <a:latin typeface="Elsie"/>
                <a:ea typeface="Elsie"/>
                <a:cs typeface="Elsie"/>
                <a:sym typeface="Elsie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Elsie"/>
              <a:buNone/>
              <a:defRPr sz="2400" i="1">
                <a:solidFill>
                  <a:schemeClr val="dk1"/>
                </a:solidFill>
                <a:latin typeface="Elsie"/>
                <a:ea typeface="Elsie"/>
                <a:cs typeface="Elsie"/>
                <a:sym typeface="Elsie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Elsie"/>
              <a:buNone/>
              <a:defRPr sz="2400" i="1">
                <a:solidFill>
                  <a:schemeClr val="dk1"/>
                </a:solidFill>
                <a:latin typeface="Elsie"/>
                <a:ea typeface="Elsie"/>
                <a:cs typeface="Elsie"/>
                <a:sym typeface="Elsie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Elsie"/>
              <a:buNone/>
              <a:defRPr sz="2400" i="1">
                <a:solidFill>
                  <a:schemeClr val="dk1"/>
                </a:solidFill>
                <a:latin typeface="Elsie"/>
                <a:ea typeface="Elsie"/>
                <a:cs typeface="Elsie"/>
                <a:sym typeface="Elsie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Elsie"/>
              <a:buNone/>
              <a:defRPr sz="2400" i="1">
                <a:solidFill>
                  <a:schemeClr val="dk1"/>
                </a:solidFill>
                <a:latin typeface="Elsie"/>
                <a:ea typeface="Elsie"/>
                <a:cs typeface="Elsie"/>
                <a:sym typeface="Elsie"/>
              </a:defRPr>
            </a:lvl9pPr>
          </a:lstStyle>
          <a:p>
            <a:endParaRPr/>
          </a:p>
        </p:txBody>
      </p:sp>
      <p:sp>
        <p:nvSpPr>
          <p:cNvPr id="87" name="Google Shape;87;p13"/>
          <p:cNvSpPr txBox="1">
            <a:spLocks noGrp="1"/>
          </p:cNvSpPr>
          <p:nvPr>
            <p:ph type="subTitle" idx="13"/>
          </p:nvPr>
        </p:nvSpPr>
        <p:spPr>
          <a:xfrm>
            <a:off x="1431993" y="3398425"/>
            <a:ext cx="2041200" cy="8064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Elsie"/>
              <a:buNone/>
              <a:defRPr sz="2000" i="1">
                <a:solidFill>
                  <a:schemeClr val="dk1"/>
                </a:solidFill>
                <a:latin typeface="Elsie"/>
                <a:ea typeface="Elsie"/>
                <a:cs typeface="Elsie"/>
                <a:sym typeface="Elsie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Elsie"/>
              <a:buNone/>
              <a:defRPr sz="2400" i="1">
                <a:solidFill>
                  <a:schemeClr val="dk1"/>
                </a:solidFill>
                <a:latin typeface="Elsie"/>
                <a:ea typeface="Elsie"/>
                <a:cs typeface="Elsie"/>
                <a:sym typeface="Elsie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Elsie"/>
              <a:buNone/>
              <a:defRPr sz="2400" i="1">
                <a:solidFill>
                  <a:schemeClr val="dk1"/>
                </a:solidFill>
                <a:latin typeface="Elsie"/>
                <a:ea typeface="Elsie"/>
                <a:cs typeface="Elsie"/>
                <a:sym typeface="Elsie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Elsie"/>
              <a:buNone/>
              <a:defRPr sz="2400" i="1">
                <a:solidFill>
                  <a:schemeClr val="dk1"/>
                </a:solidFill>
                <a:latin typeface="Elsie"/>
                <a:ea typeface="Elsie"/>
                <a:cs typeface="Elsie"/>
                <a:sym typeface="Elsie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Elsie"/>
              <a:buNone/>
              <a:defRPr sz="2400" i="1">
                <a:solidFill>
                  <a:schemeClr val="dk1"/>
                </a:solidFill>
                <a:latin typeface="Elsie"/>
                <a:ea typeface="Elsie"/>
                <a:cs typeface="Elsie"/>
                <a:sym typeface="Elsie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Elsie"/>
              <a:buNone/>
              <a:defRPr sz="2400" i="1">
                <a:solidFill>
                  <a:schemeClr val="dk1"/>
                </a:solidFill>
                <a:latin typeface="Elsie"/>
                <a:ea typeface="Elsie"/>
                <a:cs typeface="Elsie"/>
                <a:sym typeface="Elsie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Elsie"/>
              <a:buNone/>
              <a:defRPr sz="2400" i="1">
                <a:solidFill>
                  <a:schemeClr val="dk1"/>
                </a:solidFill>
                <a:latin typeface="Elsie"/>
                <a:ea typeface="Elsie"/>
                <a:cs typeface="Elsie"/>
                <a:sym typeface="Elsie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Elsie"/>
              <a:buNone/>
              <a:defRPr sz="2400" i="1">
                <a:solidFill>
                  <a:schemeClr val="dk1"/>
                </a:solidFill>
                <a:latin typeface="Elsie"/>
                <a:ea typeface="Elsie"/>
                <a:cs typeface="Elsie"/>
                <a:sym typeface="Elsie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Elsie"/>
              <a:buNone/>
              <a:defRPr sz="2400" i="1">
                <a:solidFill>
                  <a:schemeClr val="dk1"/>
                </a:solidFill>
                <a:latin typeface="Elsie"/>
                <a:ea typeface="Elsie"/>
                <a:cs typeface="Elsie"/>
                <a:sym typeface="Elsie"/>
              </a:defRPr>
            </a:lvl9pPr>
          </a:lstStyle>
          <a:p>
            <a:endParaRPr/>
          </a:p>
        </p:txBody>
      </p:sp>
      <p:sp>
        <p:nvSpPr>
          <p:cNvPr id="88" name="Google Shape;88;p13"/>
          <p:cNvSpPr txBox="1">
            <a:spLocks noGrp="1"/>
          </p:cNvSpPr>
          <p:nvPr>
            <p:ph type="subTitle" idx="14"/>
          </p:nvPr>
        </p:nvSpPr>
        <p:spPr>
          <a:xfrm>
            <a:off x="3552477" y="3398425"/>
            <a:ext cx="2041200" cy="8064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Elsie"/>
              <a:buNone/>
              <a:defRPr sz="2000" i="1">
                <a:solidFill>
                  <a:schemeClr val="dk1"/>
                </a:solidFill>
                <a:latin typeface="Elsie"/>
                <a:ea typeface="Elsie"/>
                <a:cs typeface="Elsie"/>
                <a:sym typeface="Elsie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Elsie"/>
              <a:buNone/>
              <a:defRPr sz="2400" i="1">
                <a:solidFill>
                  <a:schemeClr val="dk1"/>
                </a:solidFill>
                <a:latin typeface="Elsie"/>
                <a:ea typeface="Elsie"/>
                <a:cs typeface="Elsie"/>
                <a:sym typeface="Elsie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Elsie"/>
              <a:buNone/>
              <a:defRPr sz="2400" i="1">
                <a:solidFill>
                  <a:schemeClr val="dk1"/>
                </a:solidFill>
                <a:latin typeface="Elsie"/>
                <a:ea typeface="Elsie"/>
                <a:cs typeface="Elsie"/>
                <a:sym typeface="Elsie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Elsie"/>
              <a:buNone/>
              <a:defRPr sz="2400" i="1">
                <a:solidFill>
                  <a:schemeClr val="dk1"/>
                </a:solidFill>
                <a:latin typeface="Elsie"/>
                <a:ea typeface="Elsie"/>
                <a:cs typeface="Elsie"/>
                <a:sym typeface="Elsie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Elsie"/>
              <a:buNone/>
              <a:defRPr sz="2400" i="1">
                <a:solidFill>
                  <a:schemeClr val="dk1"/>
                </a:solidFill>
                <a:latin typeface="Elsie"/>
                <a:ea typeface="Elsie"/>
                <a:cs typeface="Elsie"/>
                <a:sym typeface="Elsie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Elsie"/>
              <a:buNone/>
              <a:defRPr sz="2400" i="1">
                <a:solidFill>
                  <a:schemeClr val="dk1"/>
                </a:solidFill>
                <a:latin typeface="Elsie"/>
                <a:ea typeface="Elsie"/>
                <a:cs typeface="Elsie"/>
                <a:sym typeface="Elsie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Elsie"/>
              <a:buNone/>
              <a:defRPr sz="2400" i="1">
                <a:solidFill>
                  <a:schemeClr val="dk1"/>
                </a:solidFill>
                <a:latin typeface="Elsie"/>
                <a:ea typeface="Elsie"/>
                <a:cs typeface="Elsie"/>
                <a:sym typeface="Elsie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Elsie"/>
              <a:buNone/>
              <a:defRPr sz="2400" i="1">
                <a:solidFill>
                  <a:schemeClr val="dk1"/>
                </a:solidFill>
                <a:latin typeface="Elsie"/>
                <a:ea typeface="Elsie"/>
                <a:cs typeface="Elsie"/>
                <a:sym typeface="Elsie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Elsie"/>
              <a:buNone/>
              <a:defRPr sz="2400" i="1">
                <a:solidFill>
                  <a:schemeClr val="dk1"/>
                </a:solidFill>
                <a:latin typeface="Elsie"/>
                <a:ea typeface="Elsie"/>
                <a:cs typeface="Elsie"/>
                <a:sym typeface="Elsie"/>
              </a:defRPr>
            </a:lvl9pPr>
          </a:lstStyle>
          <a:p>
            <a:endParaRPr/>
          </a:p>
        </p:txBody>
      </p:sp>
      <p:sp>
        <p:nvSpPr>
          <p:cNvPr id="89" name="Google Shape;89;p13"/>
          <p:cNvSpPr txBox="1">
            <a:spLocks noGrp="1"/>
          </p:cNvSpPr>
          <p:nvPr>
            <p:ph type="subTitle" idx="15"/>
          </p:nvPr>
        </p:nvSpPr>
        <p:spPr>
          <a:xfrm>
            <a:off x="5670820" y="3398425"/>
            <a:ext cx="2041200" cy="8064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Elsie"/>
              <a:buNone/>
              <a:defRPr sz="2000" i="1">
                <a:solidFill>
                  <a:schemeClr val="dk1"/>
                </a:solidFill>
                <a:latin typeface="Elsie"/>
                <a:ea typeface="Elsie"/>
                <a:cs typeface="Elsie"/>
                <a:sym typeface="Elsie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Elsie"/>
              <a:buNone/>
              <a:defRPr sz="2400" i="1">
                <a:solidFill>
                  <a:schemeClr val="dk1"/>
                </a:solidFill>
                <a:latin typeface="Elsie"/>
                <a:ea typeface="Elsie"/>
                <a:cs typeface="Elsie"/>
                <a:sym typeface="Elsie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Elsie"/>
              <a:buNone/>
              <a:defRPr sz="2400" i="1">
                <a:solidFill>
                  <a:schemeClr val="dk1"/>
                </a:solidFill>
                <a:latin typeface="Elsie"/>
                <a:ea typeface="Elsie"/>
                <a:cs typeface="Elsie"/>
                <a:sym typeface="Elsie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Elsie"/>
              <a:buNone/>
              <a:defRPr sz="2400" i="1">
                <a:solidFill>
                  <a:schemeClr val="dk1"/>
                </a:solidFill>
                <a:latin typeface="Elsie"/>
                <a:ea typeface="Elsie"/>
                <a:cs typeface="Elsie"/>
                <a:sym typeface="Elsie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Elsie"/>
              <a:buNone/>
              <a:defRPr sz="2400" i="1">
                <a:solidFill>
                  <a:schemeClr val="dk1"/>
                </a:solidFill>
                <a:latin typeface="Elsie"/>
                <a:ea typeface="Elsie"/>
                <a:cs typeface="Elsie"/>
                <a:sym typeface="Elsie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Elsie"/>
              <a:buNone/>
              <a:defRPr sz="2400" i="1">
                <a:solidFill>
                  <a:schemeClr val="dk1"/>
                </a:solidFill>
                <a:latin typeface="Elsie"/>
                <a:ea typeface="Elsie"/>
                <a:cs typeface="Elsie"/>
                <a:sym typeface="Elsie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Elsie"/>
              <a:buNone/>
              <a:defRPr sz="2400" i="1">
                <a:solidFill>
                  <a:schemeClr val="dk1"/>
                </a:solidFill>
                <a:latin typeface="Elsie"/>
                <a:ea typeface="Elsie"/>
                <a:cs typeface="Elsie"/>
                <a:sym typeface="Elsie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Elsie"/>
              <a:buNone/>
              <a:defRPr sz="2400" i="1">
                <a:solidFill>
                  <a:schemeClr val="dk1"/>
                </a:solidFill>
                <a:latin typeface="Elsie"/>
                <a:ea typeface="Elsie"/>
                <a:cs typeface="Elsie"/>
                <a:sym typeface="Elsie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Elsie"/>
              <a:buNone/>
              <a:defRPr sz="2400" i="1">
                <a:solidFill>
                  <a:schemeClr val="dk1"/>
                </a:solidFill>
                <a:latin typeface="Elsie"/>
                <a:ea typeface="Elsie"/>
                <a:cs typeface="Elsie"/>
                <a:sym typeface="Elsie"/>
              </a:defRPr>
            </a:lvl9pPr>
          </a:lstStyle>
          <a:p>
            <a:endParaRPr/>
          </a:p>
        </p:txBody>
      </p:sp>
      <p:grpSp>
        <p:nvGrpSpPr>
          <p:cNvPr id="90" name="Google Shape;90;p13"/>
          <p:cNvGrpSpPr/>
          <p:nvPr/>
        </p:nvGrpSpPr>
        <p:grpSpPr>
          <a:xfrm>
            <a:off x="319434" y="1602875"/>
            <a:ext cx="197700" cy="2279650"/>
            <a:chOff x="319434" y="1213925"/>
            <a:chExt cx="197700" cy="2279650"/>
          </a:xfrm>
        </p:grpSpPr>
        <p:sp>
          <p:nvSpPr>
            <p:cNvPr id="91" name="Google Shape;91;p13"/>
            <p:cNvSpPr/>
            <p:nvPr/>
          </p:nvSpPr>
          <p:spPr>
            <a:xfrm>
              <a:off x="319434" y="2254909"/>
              <a:ext cx="197700" cy="197700"/>
            </a:xfrm>
            <a:prstGeom prst="plaque">
              <a:avLst>
                <a:gd name="adj" fmla="val 50000"/>
              </a:avLst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cxnSp>
          <p:nvCxnSpPr>
            <p:cNvPr id="92" name="Google Shape;92;p13"/>
            <p:cNvCxnSpPr/>
            <p:nvPr/>
          </p:nvCxnSpPr>
          <p:spPr>
            <a:xfrm>
              <a:off x="418275" y="1213925"/>
              <a:ext cx="0" cy="95880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93" name="Google Shape;93;p13"/>
            <p:cNvCxnSpPr/>
            <p:nvPr/>
          </p:nvCxnSpPr>
          <p:spPr>
            <a:xfrm>
              <a:off x="418275" y="2534775"/>
              <a:ext cx="0" cy="95880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grpSp>
        <p:nvGrpSpPr>
          <p:cNvPr id="94" name="Google Shape;94;p13"/>
          <p:cNvGrpSpPr/>
          <p:nvPr/>
        </p:nvGrpSpPr>
        <p:grpSpPr>
          <a:xfrm>
            <a:off x="8629034" y="1602875"/>
            <a:ext cx="197700" cy="2279650"/>
            <a:chOff x="319434" y="1213925"/>
            <a:chExt cx="197700" cy="2279650"/>
          </a:xfrm>
        </p:grpSpPr>
        <p:sp>
          <p:nvSpPr>
            <p:cNvPr id="95" name="Google Shape;95;p13"/>
            <p:cNvSpPr/>
            <p:nvPr/>
          </p:nvSpPr>
          <p:spPr>
            <a:xfrm>
              <a:off x="319434" y="2254909"/>
              <a:ext cx="197700" cy="197700"/>
            </a:xfrm>
            <a:prstGeom prst="plaque">
              <a:avLst>
                <a:gd name="adj" fmla="val 50000"/>
              </a:avLst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cxnSp>
          <p:nvCxnSpPr>
            <p:cNvPr id="96" name="Google Shape;96;p13"/>
            <p:cNvCxnSpPr/>
            <p:nvPr/>
          </p:nvCxnSpPr>
          <p:spPr>
            <a:xfrm>
              <a:off x="418275" y="1213925"/>
              <a:ext cx="0" cy="95880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97" name="Google Shape;97;p13"/>
            <p:cNvCxnSpPr/>
            <p:nvPr/>
          </p:nvCxnSpPr>
          <p:spPr>
            <a:xfrm>
              <a:off x="418275" y="2534775"/>
              <a:ext cx="0" cy="95880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1">
  <p:cSld name="TITLE_ONLY_1">
    <p:spTree>
      <p:nvGrpSpPr>
        <p:cNvPr id="1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14"/>
          <p:cNvSpPr/>
          <p:nvPr/>
        </p:nvSpPr>
        <p:spPr>
          <a:xfrm>
            <a:off x="189600" y="207750"/>
            <a:ext cx="8764800" cy="47280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0" name="Google Shape;100;p14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47553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grpSp>
        <p:nvGrpSpPr>
          <p:cNvPr id="101" name="Google Shape;101;p14"/>
          <p:cNvGrpSpPr/>
          <p:nvPr/>
        </p:nvGrpSpPr>
        <p:grpSpPr>
          <a:xfrm>
            <a:off x="8629034" y="1602875"/>
            <a:ext cx="197700" cy="2279650"/>
            <a:chOff x="319434" y="1213925"/>
            <a:chExt cx="197700" cy="2279650"/>
          </a:xfrm>
        </p:grpSpPr>
        <p:sp>
          <p:nvSpPr>
            <p:cNvPr id="102" name="Google Shape;102;p14"/>
            <p:cNvSpPr/>
            <p:nvPr/>
          </p:nvSpPr>
          <p:spPr>
            <a:xfrm>
              <a:off x="319434" y="2254909"/>
              <a:ext cx="197700" cy="197700"/>
            </a:xfrm>
            <a:prstGeom prst="plaque">
              <a:avLst>
                <a:gd name="adj" fmla="val 50000"/>
              </a:avLst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cxnSp>
          <p:nvCxnSpPr>
            <p:cNvPr id="103" name="Google Shape;103;p14"/>
            <p:cNvCxnSpPr/>
            <p:nvPr/>
          </p:nvCxnSpPr>
          <p:spPr>
            <a:xfrm>
              <a:off x="418275" y="1213925"/>
              <a:ext cx="0" cy="95880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04" name="Google Shape;104;p14"/>
            <p:cNvCxnSpPr/>
            <p:nvPr/>
          </p:nvCxnSpPr>
          <p:spPr>
            <a:xfrm>
              <a:off x="418275" y="2534775"/>
              <a:ext cx="0" cy="95880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">
  <p:cSld name="CUSTOM">
    <p:spTree>
      <p:nvGrpSpPr>
        <p:cNvPr id="1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17"/>
          <p:cNvSpPr/>
          <p:nvPr/>
        </p:nvSpPr>
        <p:spPr>
          <a:xfrm>
            <a:off x="189600" y="207750"/>
            <a:ext cx="8764800" cy="47280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0" name="Google Shape;120;p17"/>
          <p:cNvSpPr txBox="1">
            <a:spLocks noGrp="1"/>
          </p:cNvSpPr>
          <p:nvPr>
            <p:ph type="subTitle" idx="1"/>
          </p:nvPr>
        </p:nvSpPr>
        <p:spPr>
          <a:xfrm>
            <a:off x="720000" y="1212525"/>
            <a:ext cx="7704000" cy="2913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>
            <a:endParaRPr/>
          </a:p>
        </p:txBody>
      </p:sp>
      <p:sp>
        <p:nvSpPr>
          <p:cNvPr id="121" name="Google Shape;121;p17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grpSp>
        <p:nvGrpSpPr>
          <p:cNvPr id="122" name="Google Shape;122;p17"/>
          <p:cNvGrpSpPr/>
          <p:nvPr/>
        </p:nvGrpSpPr>
        <p:grpSpPr>
          <a:xfrm>
            <a:off x="3365325" y="4582409"/>
            <a:ext cx="2413350" cy="197700"/>
            <a:chOff x="3365325" y="4582409"/>
            <a:chExt cx="2413350" cy="197700"/>
          </a:xfrm>
        </p:grpSpPr>
        <p:sp>
          <p:nvSpPr>
            <p:cNvPr id="123" name="Google Shape;123;p17"/>
            <p:cNvSpPr/>
            <p:nvPr/>
          </p:nvSpPr>
          <p:spPr>
            <a:xfrm>
              <a:off x="4473159" y="4582409"/>
              <a:ext cx="197700" cy="197700"/>
            </a:xfrm>
            <a:prstGeom prst="plaque">
              <a:avLst>
                <a:gd name="adj" fmla="val 50000"/>
              </a:avLst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cxnSp>
          <p:nvCxnSpPr>
            <p:cNvPr id="124" name="Google Shape;124;p17"/>
            <p:cNvCxnSpPr/>
            <p:nvPr/>
          </p:nvCxnSpPr>
          <p:spPr>
            <a:xfrm>
              <a:off x="3365325" y="4695525"/>
              <a:ext cx="969000" cy="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25" name="Google Shape;125;p17"/>
            <p:cNvCxnSpPr/>
            <p:nvPr/>
          </p:nvCxnSpPr>
          <p:spPr>
            <a:xfrm>
              <a:off x="4809675" y="4695525"/>
              <a:ext cx="969000" cy="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hree columns">
  <p:cSld name="BLANK_1_1_1_2">
    <p:spTree>
      <p:nvGrpSpPr>
        <p:cNvPr id="1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21"/>
          <p:cNvSpPr/>
          <p:nvPr/>
        </p:nvSpPr>
        <p:spPr>
          <a:xfrm>
            <a:off x="189600" y="207750"/>
            <a:ext cx="8764800" cy="47280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9" name="Google Shape;149;p21"/>
          <p:cNvSpPr txBox="1">
            <a:spLocks noGrp="1"/>
          </p:cNvSpPr>
          <p:nvPr>
            <p:ph type="subTitle" idx="1"/>
          </p:nvPr>
        </p:nvSpPr>
        <p:spPr>
          <a:xfrm>
            <a:off x="870396" y="1837125"/>
            <a:ext cx="2383800" cy="8241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Elsie"/>
              <a:buNone/>
              <a:defRPr sz="2000" i="1">
                <a:solidFill>
                  <a:schemeClr val="dk1"/>
                </a:solidFill>
                <a:latin typeface="Elsie"/>
                <a:ea typeface="Elsie"/>
                <a:cs typeface="Elsie"/>
                <a:sym typeface="Elsie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Elsie"/>
              <a:buNone/>
              <a:defRPr sz="2400" i="1">
                <a:solidFill>
                  <a:schemeClr val="dk1"/>
                </a:solidFill>
                <a:latin typeface="Elsie"/>
                <a:ea typeface="Elsie"/>
                <a:cs typeface="Elsie"/>
                <a:sym typeface="Elsi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Elsie"/>
              <a:buNone/>
              <a:defRPr sz="2400" i="1">
                <a:solidFill>
                  <a:schemeClr val="dk1"/>
                </a:solidFill>
                <a:latin typeface="Elsie"/>
                <a:ea typeface="Elsie"/>
                <a:cs typeface="Elsie"/>
                <a:sym typeface="Elsi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Elsie"/>
              <a:buNone/>
              <a:defRPr sz="2400" i="1">
                <a:solidFill>
                  <a:schemeClr val="dk1"/>
                </a:solidFill>
                <a:latin typeface="Elsie"/>
                <a:ea typeface="Elsie"/>
                <a:cs typeface="Elsie"/>
                <a:sym typeface="Elsi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Elsie"/>
              <a:buNone/>
              <a:defRPr sz="2400" i="1">
                <a:solidFill>
                  <a:schemeClr val="dk1"/>
                </a:solidFill>
                <a:latin typeface="Elsie"/>
                <a:ea typeface="Elsie"/>
                <a:cs typeface="Elsie"/>
                <a:sym typeface="Elsi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Elsie"/>
              <a:buNone/>
              <a:defRPr sz="2400" i="1">
                <a:solidFill>
                  <a:schemeClr val="dk1"/>
                </a:solidFill>
                <a:latin typeface="Elsie"/>
                <a:ea typeface="Elsie"/>
                <a:cs typeface="Elsie"/>
                <a:sym typeface="Elsi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Elsie"/>
              <a:buNone/>
              <a:defRPr sz="2400" i="1">
                <a:solidFill>
                  <a:schemeClr val="dk1"/>
                </a:solidFill>
                <a:latin typeface="Elsie"/>
                <a:ea typeface="Elsie"/>
                <a:cs typeface="Elsie"/>
                <a:sym typeface="Elsi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Elsie"/>
              <a:buNone/>
              <a:defRPr sz="2400" i="1">
                <a:solidFill>
                  <a:schemeClr val="dk1"/>
                </a:solidFill>
                <a:latin typeface="Elsie"/>
                <a:ea typeface="Elsie"/>
                <a:cs typeface="Elsie"/>
                <a:sym typeface="Elsi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Elsie"/>
              <a:buNone/>
              <a:defRPr sz="2400" i="1">
                <a:solidFill>
                  <a:schemeClr val="dk1"/>
                </a:solidFill>
                <a:latin typeface="Elsie"/>
                <a:ea typeface="Elsie"/>
                <a:cs typeface="Elsie"/>
                <a:sym typeface="Elsie"/>
              </a:defRPr>
            </a:lvl9pPr>
          </a:lstStyle>
          <a:p>
            <a:endParaRPr/>
          </a:p>
        </p:txBody>
      </p:sp>
      <p:sp>
        <p:nvSpPr>
          <p:cNvPr id="150" name="Google Shape;150;p21"/>
          <p:cNvSpPr txBox="1">
            <a:spLocks noGrp="1"/>
          </p:cNvSpPr>
          <p:nvPr>
            <p:ph type="subTitle" idx="2"/>
          </p:nvPr>
        </p:nvSpPr>
        <p:spPr>
          <a:xfrm>
            <a:off x="870396" y="2661200"/>
            <a:ext cx="2383800" cy="1284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151" name="Google Shape;151;p21"/>
          <p:cNvSpPr txBox="1">
            <a:spLocks noGrp="1"/>
          </p:cNvSpPr>
          <p:nvPr>
            <p:ph type="subTitle" idx="3"/>
          </p:nvPr>
        </p:nvSpPr>
        <p:spPr>
          <a:xfrm>
            <a:off x="3380100" y="2661200"/>
            <a:ext cx="2383800" cy="1284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152" name="Google Shape;152;p21"/>
          <p:cNvSpPr txBox="1">
            <a:spLocks noGrp="1"/>
          </p:cNvSpPr>
          <p:nvPr>
            <p:ph type="subTitle" idx="4"/>
          </p:nvPr>
        </p:nvSpPr>
        <p:spPr>
          <a:xfrm>
            <a:off x="5889804" y="2661200"/>
            <a:ext cx="2383800" cy="1284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153" name="Google Shape;153;p21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sp>
        <p:nvSpPr>
          <p:cNvPr id="154" name="Google Shape;154;p21"/>
          <p:cNvSpPr txBox="1">
            <a:spLocks noGrp="1"/>
          </p:cNvSpPr>
          <p:nvPr>
            <p:ph type="subTitle" idx="5"/>
          </p:nvPr>
        </p:nvSpPr>
        <p:spPr>
          <a:xfrm>
            <a:off x="3380100" y="1837125"/>
            <a:ext cx="2383800" cy="8241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Elsie"/>
              <a:buNone/>
              <a:defRPr sz="2000" i="1">
                <a:solidFill>
                  <a:schemeClr val="dk1"/>
                </a:solidFill>
                <a:latin typeface="Elsie"/>
                <a:ea typeface="Elsie"/>
                <a:cs typeface="Elsie"/>
                <a:sym typeface="Elsie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Elsie"/>
              <a:buNone/>
              <a:defRPr sz="2400" i="1">
                <a:solidFill>
                  <a:schemeClr val="dk1"/>
                </a:solidFill>
                <a:latin typeface="Elsie"/>
                <a:ea typeface="Elsie"/>
                <a:cs typeface="Elsie"/>
                <a:sym typeface="Elsi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Elsie"/>
              <a:buNone/>
              <a:defRPr sz="2400" i="1">
                <a:solidFill>
                  <a:schemeClr val="dk1"/>
                </a:solidFill>
                <a:latin typeface="Elsie"/>
                <a:ea typeface="Elsie"/>
                <a:cs typeface="Elsie"/>
                <a:sym typeface="Elsi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Elsie"/>
              <a:buNone/>
              <a:defRPr sz="2400" i="1">
                <a:solidFill>
                  <a:schemeClr val="dk1"/>
                </a:solidFill>
                <a:latin typeface="Elsie"/>
                <a:ea typeface="Elsie"/>
                <a:cs typeface="Elsie"/>
                <a:sym typeface="Elsi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Elsie"/>
              <a:buNone/>
              <a:defRPr sz="2400" i="1">
                <a:solidFill>
                  <a:schemeClr val="dk1"/>
                </a:solidFill>
                <a:latin typeface="Elsie"/>
                <a:ea typeface="Elsie"/>
                <a:cs typeface="Elsie"/>
                <a:sym typeface="Elsi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Elsie"/>
              <a:buNone/>
              <a:defRPr sz="2400" i="1">
                <a:solidFill>
                  <a:schemeClr val="dk1"/>
                </a:solidFill>
                <a:latin typeface="Elsie"/>
                <a:ea typeface="Elsie"/>
                <a:cs typeface="Elsie"/>
                <a:sym typeface="Elsi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Elsie"/>
              <a:buNone/>
              <a:defRPr sz="2400" i="1">
                <a:solidFill>
                  <a:schemeClr val="dk1"/>
                </a:solidFill>
                <a:latin typeface="Elsie"/>
                <a:ea typeface="Elsie"/>
                <a:cs typeface="Elsie"/>
                <a:sym typeface="Elsi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Elsie"/>
              <a:buNone/>
              <a:defRPr sz="2400" i="1">
                <a:solidFill>
                  <a:schemeClr val="dk1"/>
                </a:solidFill>
                <a:latin typeface="Elsie"/>
                <a:ea typeface="Elsie"/>
                <a:cs typeface="Elsie"/>
                <a:sym typeface="Elsi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Elsie"/>
              <a:buNone/>
              <a:defRPr sz="2400" i="1">
                <a:solidFill>
                  <a:schemeClr val="dk1"/>
                </a:solidFill>
                <a:latin typeface="Elsie"/>
                <a:ea typeface="Elsie"/>
                <a:cs typeface="Elsie"/>
                <a:sym typeface="Elsie"/>
              </a:defRPr>
            </a:lvl9pPr>
          </a:lstStyle>
          <a:p>
            <a:endParaRPr/>
          </a:p>
        </p:txBody>
      </p:sp>
      <p:sp>
        <p:nvSpPr>
          <p:cNvPr id="155" name="Google Shape;155;p21"/>
          <p:cNvSpPr txBox="1">
            <a:spLocks noGrp="1"/>
          </p:cNvSpPr>
          <p:nvPr>
            <p:ph type="subTitle" idx="6"/>
          </p:nvPr>
        </p:nvSpPr>
        <p:spPr>
          <a:xfrm>
            <a:off x="5889804" y="1837125"/>
            <a:ext cx="2383800" cy="8241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Elsie"/>
              <a:buNone/>
              <a:defRPr sz="2000" i="1">
                <a:solidFill>
                  <a:schemeClr val="dk1"/>
                </a:solidFill>
                <a:latin typeface="Elsie"/>
                <a:ea typeface="Elsie"/>
                <a:cs typeface="Elsie"/>
                <a:sym typeface="Elsie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Elsie"/>
              <a:buNone/>
              <a:defRPr sz="2400" i="1">
                <a:solidFill>
                  <a:schemeClr val="dk1"/>
                </a:solidFill>
                <a:latin typeface="Elsie"/>
                <a:ea typeface="Elsie"/>
                <a:cs typeface="Elsie"/>
                <a:sym typeface="Elsi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Elsie"/>
              <a:buNone/>
              <a:defRPr sz="2400" i="1">
                <a:solidFill>
                  <a:schemeClr val="dk1"/>
                </a:solidFill>
                <a:latin typeface="Elsie"/>
                <a:ea typeface="Elsie"/>
                <a:cs typeface="Elsie"/>
                <a:sym typeface="Elsi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Elsie"/>
              <a:buNone/>
              <a:defRPr sz="2400" i="1">
                <a:solidFill>
                  <a:schemeClr val="dk1"/>
                </a:solidFill>
                <a:latin typeface="Elsie"/>
                <a:ea typeface="Elsie"/>
                <a:cs typeface="Elsie"/>
                <a:sym typeface="Elsi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Elsie"/>
              <a:buNone/>
              <a:defRPr sz="2400" i="1">
                <a:solidFill>
                  <a:schemeClr val="dk1"/>
                </a:solidFill>
                <a:latin typeface="Elsie"/>
                <a:ea typeface="Elsie"/>
                <a:cs typeface="Elsie"/>
                <a:sym typeface="Elsi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Elsie"/>
              <a:buNone/>
              <a:defRPr sz="2400" i="1">
                <a:solidFill>
                  <a:schemeClr val="dk1"/>
                </a:solidFill>
                <a:latin typeface="Elsie"/>
                <a:ea typeface="Elsie"/>
                <a:cs typeface="Elsie"/>
                <a:sym typeface="Elsi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Elsie"/>
              <a:buNone/>
              <a:defRPr sz="2400" i="1">
                <a:solidFill>
                  <a:schemeClr val="dk1"/>
                </a:solidFill>
                <a:latin typeface="Elsie"/>
                <a:ea typeface="Elsie"/>
                <a:cs typeface="Elsie"/>
                <a:sym typeface="Elsi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Elsie"/>
              <a:buNone/>
              <a:defRPr sz="2400" i="1">
                <a:solidFill>
                  <a:schemeClr val="dk1"/>
                </a:solidFill>
                <a:latin typeface="Elsie"/>
                <a:ea typeface="Elsie"/>
                <a:cs typeface="Elsie"/>
                <a:sym typeface="Elsi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Elsie"/>
              <a:buNone/>
              <a:defRPr sz="2400" i="1">
                <a:solidFill>
                  <a:schemeClr val="dk1"/>
                </a:solidFill>
                <a:latin typeface="Elsie"/>
                <a:ea typeface="Elsie"/>
                <a:cs typeface="Elsie"/>
                <a:sym typeface="Elsie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">
  <p:cSld name="BLANK_1_1_1_1_1_1_1">
    <p:spTree>
      <p:nvGrpSpPr>
        <p:cNvPr id="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p25"/>
          <p:cNvSpPr/>
          <p:nvPr/>
        </p:nvSpPr>
        <p:spPr>
          <a:xfrm>
            <a:off x="189600" y="207750"/>
            <a:ext cx="8764800" cy="47280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203" name="Google Shape;203;p25"/>
          <p:cNvGrpSpPr/>
          <p:nvPr/>
        </p:nvGrpSpPr>
        <p:grpSpPr>
          <a:xfrm>
            <a:off x="327234" y="379450"/>
            <a:ext cx="8436616" cy="4426753"/>
            <a:chOff x="327234" y="379450"/>
            <a:chExt cx="8436616" cy="4426753"/>
          </a:xfrm>
        </p:grpSpPr>
        <p:cxnSp>
          <p:nvCxnSpPr>
            <p:cNvPr id="204" name="Google Shape;204;p25"/>
            <p:cNvCxnSpPr/>
            <p:nvPr/>
          </p:nvCxnSpPr>
          <p:spPr>
            <a:xfrm>
              <a:off x="6775450" y="379450"/>
              <a:ext cx="1988400" cy="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205" name="Google Shape;205;p25"/>
            <p:cNvSpPr/>
            <p:nvPr/>
          </p:nvSpPr>
          <p:spPr>
            <a:xfrm>
              <a:off x="327234" y="4608503"/>
              <a:ext cx="197700" cy="197700"/>
            </a:xfrm>
            <a:prstGeom prst="plaque">
              <a:avLst>
                <a:gd name="adj" fmla="val 50000"/>
              </a:avLst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1">
  <p:cSld name="BLANK_1_1_1_1_1_1_1_1">
    <p:spTree>
      <p:nvGrpSpPr>
        <p:cNvPr id="1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p26"/>
          <p:cNvSpPr/>
          <p:nvPr/>
        </p:nvSpPr>
        <p:spPr>
          <a:xfrm>
            <a:off x="189600" y="207750"/>
            <a:ext cx="8764800" cy="47280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208" name="Google Shape;208;p26"/>
          <p:cNvGrpSpPr/>
          <p:nvPr/>
        </p:nvGrpSpPr>
        <p:grpSpPr>
          <a:xfrm>
            <a:off x="319434" y="1602875"/>
            <a:ext cx="197700" cy="2279650"/>
            <a:chOff x="319434" y="1213925"/>
            <a:chExt cx="197700" cy="2279650"/>
          </a:xfrm>
        </p:grpSpPr>
        <p:sp>
          <p:nvSpPr>
            <p:cNvPr id="209" name="Google Shape;209;p26"/>
            <p:cNvSpPr/>
            <p:nvPr/>
          </p:nvSpPr>
          <p:spPr>
            <a:xfrm>
              <a:off x="319434" y="2254909"/>
              <a:ext cx="197700" cy="197700"/>
            </a:xfrm>
            <a:prstGeom prst="plaque">
              <a:avLst>
                <a:gd name="adj" fmla="val 50000"/>
              </a:avLst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cxnSp>
          <p:nvCxnSpPr>
            <p:cNvPr id="210" name="Google Shape;210;p26"/>
            <p:cNvCxnSpPr/>
            <p:nvPr/>
          </p:nvCxnSpPr>
          <p:spPr>
            <a:xfrm>
              <a:off x="418275" y="1213925"/>
              <a:ext cx="0" cy="95880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11" name="Google Shape;211;p26"/>
            <p:cNvCxnSpPr/>
            <p:nvPr/>
          </p:nvCxnSpPr>
          <p:spPr>
            <a:xfrm>
              <a:off x="418275" y="2534775"/>
              <a:ext cx="0" cy="95880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grpSp>
        <p:nvGrpSpPr>
          <p:cNvPr id="212" name="Google Shape;212;p26"/>
          <p:cNvGrpSpPr/>
          <p:nvPr/>
        </p:nvGrpSpPr>
        <p:grpSpPr>
          <a:xfrm>
            <a:off x="8629034" y="1602875"/>
            <a:ext cx="197700" cy="2279650"/>
            <a:chOff x="319434" y="1213925"/>
            <a:chExt cx="197700" cy="2279650"/>
          </a:xfrm>
        </p:grpSpPr>
        <p:sp>
          <p:nvSpPr>
            <p:cNvPr id="213" name="Google Shape;213;p26"/>
            <p:cNvSpPr/>
            <p:nvPr/>
          </p:nvSpPr>
          <p:spPr>
            <a:xfrm>
              <a:off x="319434" y="2254909"/>
              <a:ext cx="197700" cy="197700"/>
            </a:xfrm>
            <a:prstGeom prst="plaque">
              <a:avLst>
                <a:gd name="adj" fmla="val 50000"/>
              </a:avLst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cxnSp>
          <p:nvCxnSpPr>
            <p:cNvPr id="214" name="Google Shape;214;p26"/>
            <p:cNvCxnSpPr/>
            <p:nvPr/>
          </p:nvCxnSpPr>
          <p:spPr>
            <a:xfrm>
              <a:off x="418275" y="1213925"/>
              <a:ext cx="0" cy="95880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15" name="Google Shape;215;p26"/>
            <p:cNvCxnSpPr/>
            <p:nvPr/>
          </p:nvCxnSpPr>
          <p:spPr>
            <a:xfrm>
              <a:off x="418275" y="2534775"/>
              <a:ext cx="0" cy="95880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Elsie"/>
              <a:buNone/>
              <a:defRPr sz="3500" i="1">
                <a:solidFill>
                  <a:schemeClr val="dk1"/>
                </a:solidFill>
                <a:latin typeface="Elsie"/>
                <a:ea typeface="Elsie"/>
                <a:cs typeface="Elsie"/>
                <a:sym typeface="Elsie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Albert Sans"/>
              <a:buChar char="●"/>
              <a:defRPr sz="1200">
                <a:solidFill>
                  <a:schemeClr val="lt2"/>
                </a:solidFill>
                <a:latin typeface="Albert Sans"/>
                <a:ea typeface="Albert Sans"/>
                <a:cs typeface="Albert Sans"/>
                <a:sym typeface="Albert Sans"/>
              </a:defRPr>
            </a:lvl1pPr>
            <a:lvl2pPr marL="914400" lvl="1" indent="-304800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Albert Sans"/>
              <a:buChar char="○"/>
              <a:defRPr sz="1200">
                <a:solidFill>
                  <a:schemeClr val="lt2"/>
                </a:solidFill>
                <a:latin typeface="Albert Sans"/>
                <a:ea typeface="Albert Sans"/>
                <a:cs typeface="Albert Sans"/>
                <a:sym typeface="Albert Sans"/>
              </a:defRPr>
            </a:lvl2pPr>
            <a:lvl3pPr marL="1371600" lvl="2" indent="-304800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Albert Sans"/>
              <a:buChar char="■"/>
              <a:defRPr sz="1200">
                <a:solidFill>
                  <a:schemeClr val="lt2"/>
                </a:solidFill>
                <a:latin typeface="Albert Sans"/>
                <a:ea typeface="Albert Sans"/>
                <a:cs typeface="Albert Sans"/>
                <a:sym typeface="Albert Sans"/>
              </a:defRPr>
            </a:lvl3pPr>
            <a:lvl4pPr marL="1828800" lvl="3" indent="-304800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Albert Sans"/>
              <a:buChar char="●"/>
              <a:defRPr sz="1200">
                <a:solidFill>
                  <a:schemeClr val="lt2"/>
                </a:solidFill>
                <a:latin typeface="Albert Sans"/>
                <a:ea typeface="Albert Sans"/>
                <a:cs typeface="Albert Sans"/>
                <a:sym typeface="Albert Sans"/>
              </a:defRPr>
            </a:lvl4pPr>
            <a:lvl5pPr marL="2286000" lvl="4" indent="-304800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Albert Sans"/>
              <a:buChar char="○"/>
              <a:defRPr sz="1200">
                <a:solidFill>
                  <a:schemeClr val="lt2"/>
                </a:solidFill>
                <a:latin typeface="Albert Sans"/>
                <a:ea typeface="Albert Sans"/>
                <a:cs typeface="Albert Sans"/>
                <a:sym typeface="Albert Sans"/>
              </a:defRPr>
            </a:lvl5pPr>
            <a:lvl6pPr marL="2743200" lvl="5" indent="-304800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Albert Sans"/>
              <a:buChar char="■"/>
              <a:defRPr sz="1200">
                <a:solidFill>
                  <a:schemeClr val="lt2"/>
                </a:solidFill>
                <a:latin typeface="Albert Sans"/>
                <a:ea typeface="Albert Sans"/>
                <a:cs typeface="Albert Sans"/>
                <a:sym typeface="Albert Sans"/>
              </a:defRPr>
            </a:lvl6pPr>
            <a:lvl7pPr marL="3200400" lvl="6" indent="-304800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Albert Sans"/>
              <a:buChar char="●"/>
              <a:defRPr sz="1200">
                <a:solidFill>
                  <a:schemeClr val="lt2"/>
                </a:solidFill>
                <a:latin typeface="Albert Sans"/>
                <a:ea typeface="Albert Sans"/>
                <a:cs typeface="Albert Sans"/>
                <a:sym typeface="Albert Sans"/>
              </a:defRPr>
            </a:lvl7pPr>
            <a:lvl8pPr marL="3657600" lvl="7" indent="-304800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Albert Sans"/>
              <a:buChar char="○"/>
              <a:defRPr sz="1200">
                <a:solidFill>
                  <a:schemeClr val="lt2"/>
                </a:solidFill>
                <a:latin typeface="Albert Sans"/>
                <a:ea typeface="Albert Sans"/>
                <a:cs typeface="Albert Sans"/>
                <a:sym typeface="Albert Sans"/>
              </a:defRPr>
            </a:lvl8pPr>
            <a:lvl9pPr marL="4114800" lvl="8" indent="-304800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Clr>
                <a:schemeClr val="lt2"/>
              </a:buClr>
              <a:buSzPts val="1200"/>
              <a:buFont typeface="Albert Sans"/>
              <a:buChar char="■"/>
              <a:defRPr sz="1200">
                <a:solidFill>
                  <a:schemeClr val="lt2"/>
                </a:solidFill>
                <a:latin typeface="Albert Sans"/>
                <a:ea typeface="Albert Sans"/>
                <a:cs typeface="Albert Sans"/>
                <a:sym typeface="Albert Sans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1" r:id="rId3"/>
    <p:sldLayoutId id="2147483654" r:id="rId4"/>
    <p:sldLayoutId id="2147483655" r:id="rId5"/>
    <p:sldLayoutId id="2147483658" r:id="rId6"/>
    <p:sldLayoutId id="2147483659" r:id="rId7"/>
    <p:sldLayoutId id="2147483660" r:id="rId8"/>
    <p:sldLayoutId id="2147483663" r:id="rId9"/>
    <p:sldLayoutId id="2147483667" r:id="rId10"/>
    <p:sldLayoutId id="2147483671" r:id="rId11"/>
    <p:sldLayoutId id="2147483672" r:id="rId12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0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0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0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9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Google Shape;226;p30"/>
          <p:cNvSpPr txBox="1">
            <a:spLocks noGrp="1"/>
          </p:cNvSpPr>
          <p:nvPr>
            <p:ph type="ctrTitle"/>
          </p:nvPr>
        </p:nvSpPr>
        <p:spPr>
          <a:xfrm>
            <a:off x="1044127" y="1134419"/>
            <a:ext cx="7055746" cy="1819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4500" dirty="0"/>
              <a:t>Maximizing Incremental Store Visits Under a Limited SMS Budget</a:t>
            </a:r>
            <a:endParaRPr sz="4500" dirty="0"/>
          </a:p>
        </p:txBody>
      </p:sp>
      <p:sp>
        <p:nvSpPr>
          <p:cNvPr id="227" name="Google Shape;227;p30"/>
          <p:cNvSpPr txBox="1">
            <a:spLocks noGrp="1"/>
          </p:cNvSpPr>
          <p:nvPr>
            <p:ph type="subTitle" idx="1"/>
          </p:nvPr>
        </p:nvSpPr>
        <p:spPr>
          <a:xfrm>
            <a:off x="1669800" y="3423550"/>
            <a:ext cx="5804400" cy="409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Customer Segmentation and Uplift Modeling for SMS Targeting</a:t>
            </a:r>
            <a:endParaRPr dirty="0"/>
          </a:p>
        </p:txBody>
      </p:sp>
      <p:grpSp>
        <p:nvGrpSpPr>
          <p:cNvPr id="228" name="Google Shape;228;p30"/>
          <p:cNvGrpSpPr/>
          <p:nvPr/>
        </p:nvGrpSpPr>
        <p:grpSpPr>
          <a:xfrm>
            <a:off x="1796975" y="3000478"/>
            <a:ext cx="5550050" cy="197700"/>
            <a:chOff x="1653525" y="2970747"/>
            <a:chExt cx="5550050" cy="197700"/>
          </a:xfrm>
        </p:grpSpPr>
        <p:sp>
          <p:nvSpPr>
            <p:cNvPr id="229" name="Google Shape;229;p30"/>
            <p:cNvSpPr/>
            <p:nvPr/>
          </p:nvSpPr>
          <p:spPr>
            <a:xfrm>
              <a:off x="4329709" y="2970747"/>
              <a:ext cx="197700" cy="197700"/>
            </a:xfrm>
            <a:prstGeom prst="plaque">
              <a:avLst>
                <a:gd name="adj" fmla="val 50000"/>
              </a:avLst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cxnSp>
          <p:nvCxnSpPr>
            <p:cNvPr id="230" name="Google Shape;230;p30"/>
            <p:cNvCxnSpPr/>
            <p:nvPr/>
          </p:nvCxnSpPr>
          <p:spPr>
            <a:xfrm>
              <a:off x="1653525" y="3069600"/>
              <a:ext cx="2527200" cy="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31" name="Google Shape;231;p30"/>
            <p:cNvCxnSpPr/>
            <p:nvPr/>
          </p:nvCxnSpPr>
          <p:spPr>
            <a:xfrm>
              <a:off x="4676375" y="3069600"/>
              <a:ext cx="2527200" cy="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sp>
        <p:nvSpPr>
          <p:cNvPr id="3" name="Google Shape;227;p30">
            <a:extLst>
              <a:ext uri="{FF2B5EF4-FFF2-40B4-BE49-F238E27FC236}">
                <a16:creationId xmlns:a16="http://schemas.microsoft.com/office/drawing/2014/main" id="{3D538AFE-9605-6EE7-C90D-40AA328D4206}"/>
              </a:ext>
            </a:extLst>
          </p:cNvPr>
          <p:cNvSpPr txBox="1">
            <a:spLocks/>
          </p:cNvSpPr>
          <p:nvPr/>
        </p:nvSpPr>
        <p:spPr>
          <a:xfrm>
            <a:off x="5610387" y="4488659"/>
            <a:ext cx="5804400" cy="40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Albert Sans"/>
              <a:buNone/>
              <a:defRPr sz="1300" b="0" i="0" u="none" strike="noStrike" cap="none">
                <a:solidFill>
                  <a:schemeClr val="lt2"/>
                </a:solidFill>
                <a:latin typeface="Albert Sans"/>
                <a:ea typeface="Albert Sans"/>
                <a:cs typeface="Albert Sans"/>
                <a:sym typeface="Albert Sans"/>
              </a:defRPr>
            </a:lvl1pPr>
            <a:lvl2pPr marL="914400" marR="0" lvl="1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Albert Sans"/>
              <a:buNone/>
              <a:defRPr sz="1800" b="0" i="0" u="none" strike="noStrike" cap="none">
                <a:solidFill>
                  <a:schemeClr val="lt2"/>
                </a:solidFill>
                <a:latin typeface="Albert Sans"/>
                <a:ea typeface="Albert Sans"/>
                <a:cs typeface="Albert Sans"/>
                <a:sym typeface="Albert Sans"/>
              </a:defRPr>
            </a:lvl2pPr>
            <a:lvl3pPr marL="1371600" marR="0" lvl="2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Albert Sans"/>
              <a:buNone/>
              <a:defRPr sz="1800" b="0" i="0" u="none" strike="noStrike" cap="none">
                <a:solidFill>
                  <a:schemeClr val="lt2"/>
                </a:solidFill>
                <a:latin typeface="Albert Sans"/>
                <a:ea typeface="Albert Sans"/>
                <a:cs typeface="Albert Sans"/>
                <a:sym typeface="Albert Sans"/>
              </a:defRPr>
            </a:lvl3pPr>
            <a:lvl4pPr marL="1828800" marR="0" lvl="3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Albert Sans"/>
              <a:buNone/>
              <a:defRPr sz="1800" b="0" i="0" u="none" strike="noStrike" cap="none">
                <a:solidFill>
                  <a:schemeClr val="lt2"/>
                </a:solidFill>
                <a:latin typeface="Albert Sans"/>
                <a:ea typeface="Albert Sans"/>
                <a:cs typeface="Albert Sans"/>
                <a:sym typeface="Albert Sans"/>
              </a:defRPr>
            </a:lvl4pPr>
            <a:lvl5pPr marL="2286000" marR="0" lvl="4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Albert Sans"/>
              <a:buNone/>
              <a:defRPr sz="1800" b="0" i="0" u="none" strike="noStrike" cap="none">
                <a:solidFill>
                  <a:schemeClr val="lt2"/>
                </a:solidFill>
                <a:latin typeface="Albert Sans"/>
                <a:ea typeface="Albert Sans"/>
                <a:cs typeface="Albert Sans"/>
                <a:sym typeface="Albert Sans"/>
              </a:defRPr>
            </a:lvl5pPr>
            <a:lvl6pPr marL="2743200" marR="0" lvl="5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Albert Sans"/>
              <a:buNone/>
              <a:defRPr sz="1800" b="0" i="0" u="none" strike="noStrike" cap="none">
                <a:solidFill>
                  <a:schemeClr val="lt2"/>
                </a:solidFill>
                <a:latin typeface="Albert Sans"/>
                <a:ea typeface="Albert Sans"/>
                <a:cs typeface="Albert Sans"/>
                <a:sym typeface="Albert Sans"/>
              </a:defRPr>
            </a:lvl6pPr>
            <a:lvl7pPr marL="3200400" marR="0" lvl="6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Albert Sans"/>
              <a:buNone/>
              <a:defRPr sz="1800" b="0" i="0" u="none" strike="noStrike" cap="none">
                <a:solidFill>
                  <a:schemeClr val="lt2"/>
                </a:solidFill>
                <a:latin typeface="Albert Sans"/>
                <a:ea typeface="Albert Sans"/>
                <a:cs typeface="Albert Sans"/>
                <a:sym typeface="Albert Sans"/>
              </a:defRPr>
            </a:lvl7pPr>
            <a:lvl8pPr marL="3657600" marR="0" lvl="7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Albert Sans"/>
              <a:buNone/>
              <a:defRPr sz="1800" b="0" i="0" u="none" strike="noStrike" cap="none">
                <a:solidFill>
                  <a:schemeClr val="lt2"/>
                </a:solidFill>
                <a:latin typeface="Albert Sans"/>
                <a:ea typeface="Albert Sans"/>
                <a:cs typeface="Albert Sans"/>
                <a:sym typeface="Albert Sans"/>
              </a:defRPr>
            </a:lvl8pPr>
            <a:lvl9pPr marL="4114800" marR="0" lvl="8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Albert Sans"/>
              <a:buNone/>
              <a:defRPr sz="1800" b="0" i="0" u="none" strike="noStrike" cap="none">
                <a:solidFill>
                  <a:schemeClr val="lt2"/>
                </a:solidFill>
                <a:latin typeface="Albert Sans"/>
                <a:ea typeface="Albert Sans"/>
                <a:cs typeface="Albert Sans"/>
                <a:sym typeface="Albert Sans"/>
              </a:defRPr>
            </a:lvl9pPr>
          </a:lstStyle>
          <a:p>
            <a:pPr marL="0" indent="0" algn="l"/>
            <a:r>
              <a:rPr lang="en-US" sz="1000" dirty="0"/>
              <a:t>__________________________________________________</a:t>
            </a:r>
          </a:p>
          <a:p>
            <a:pPr marL="0" indent="0" algn="l"/>
            <a:r>
              <a:rPr lang="en-US" sz="1000" dirty="0"/>
              <a:t>Nuria Castellsague Kharbouch | Data Science Capstone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A2C4C9"/>
        </a:solidFill>
        <a:effectLst/>
      </p:bgPr>
    </p:bg>
    <p:spTree>
      <p:nvGrpSpPr>
        <p:cNvPr id="1" name="Shape 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Google Shape;245;p32"/>
          <p:cNvSpPr txBox="1">
            <a:spLocks noGrp="1"/>
          </p:cNvSpPr>
          <p:nvPr>
            <p:ph type="subTitle" idx="1"/>
          </p:nvPr>
        </p:nvSpPr>
        <p:spPr>
          <a:xfrm>
            <a:off x="1614891" y="1489990"/>
            <a:ext cx="5914217" cy="216352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342900" lvl="0" indent="-342900" algn="ctr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dirty="0"/>
              <a:t>BIGTARGET hackathon dataset (LENTA + Microsoft).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687,029 rows &amp; 196 columns</a:t>
            </a:r>
          </a:p>
          <a:p>
            <a:pPr marL="342900" lvl="0" indent="-342900" algn="ctr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dirty="0"/>
              <a:t>Customer behavior, demographic, treatment, and outcome variables.</a:t>
            </a:r>
          </a:p>
          <a:p>
            <a:pPr marL="342900" lvl="0" indent="-342900" algn="ctr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dirty="0"/>
              <a:t>E.g. receipt counts, spending by product group, discount interaction, visit regularity</a:t>
            </a:r>
          </a:p>
          <a:p>
            <a:pPr marL="800100" lvl="1" indent="-342900" algn="ctr">
              <a:buFont typeface="Arial" panose="020B0604020202020204" pitchFamily="34" charset="0"/>
              <a:buChar char="•"/>
            </a:pPr>
            <a:endParaRPr lang="en-US" dirty="0"/>
          </a:p>
          <a:p>
            <a:pPr marL="457200" lvl="1" indent="0" algn="ctr"/>
            <a:endParaRPr lang="en-US" dirty="0"/>
          </a:p>
        </p:txBody>
      </p:sp>
      <p:sp>
        <p:nvSpPr>
          <p:cNvPr id="252" name="Google Shape;252;p32"/>
          <p:cNvSpPr txBox="1">
            <a:spLocks noGrp="1"/>
          </p:cNvSpPr>
          <p:nvPr>
            <p:ph type="title" idx="7"/>
          </p:nvPr>
        </p:nvSpPr>
        <p:spPr>
          <a:xfrm>
            <a:off x="719999" y="553513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Dataset:</a:t>
            </a:r>
            <a:endParaRPr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" name="Google Shape;283;p35"/>
          <p:cNvSpPr txBox="1">
            <a:spLocks noGrp="1"/>
          </p:cNvSpPr>
          <p:nvPr>
            <p:ph type="title"/>
          </p:nvPr>
        </p:nvSpPr>
        <p:spPr>
          <a:xfrm>
            <a:off x="1" y="1264000"/>
            <a:ext cx="9143999" cy="677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If SMS budget is limited, how can customers be targeted to maximize incremental store visits relative to sending no SMS?</a:t>
            </a:r>
          </a:p>
        </p:txBody>
      </p:sp>
      <p:grpSp>
        <p:nvGrpSpPr>
          <p:cNvPr id="286" name="Google Shape;286;p35"/>
          <p:cNvGrpSpPr/>
          <p:nvPr/>
        </p:nvGrpSpPr>
        <p:grpSpPr>
          <a:xfrm>
            <a:off x="2849162" y="848024"/>
            <a:ext cx="3445675" cy="197700"/>
            <a:chOff x="2659300" y="2970747"/>
            <a:chExt cx="3445675" cy="197700"/>
          </a:xfrm>
        </p:grpSpPr>
        <p:sp>
          <p:nvSpPr>
            <p:cNvPr id="287" name="Google Shape;287;p35"/>
            <p:cNvSpPr/>
            <p:nvPr/>
          </p:nvSpPr>
          <p:spPr>
            <a:xfrm>
              <a:off x="4329709" y="2970747"/>
              <a:ext cx="197700" cy="197700"/>
            </a:xfrm>
            <a:prstGeom prst="plaque">
              <a:avLst>
                <a:gd name="adj" fmla="val 50000"/>
              </a:avLst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cxnSp>
          <p:nvCxnSpPr>
            <p:cNvPr id="288" name="Google Shape;288;p35"/>
            <p:cNvCxnSpPr/>
            <p:nvPr/>
          </p:nvCxnSpPr>
          <p:spPr>
            <a:xfrm>
              <a:off x="2659300" y="3069594"/>
              <a:ext cx="1521300" cy="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89" name="Google Shape;289;p35"/>
            <p:cNvCxnSpPr/>
            <p:nvPr/>
          </p:nvCxnSpPr>
          <p:spPr>
            <a:xfrm>
              <a:off x="4676375" y="3069600"/>
              <a:ext cx="1428600" cy="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sp>
        <p:nvSpPr>
          <p:cNvPr id="11" name="Google Shape;283;p35">
            <a:extLst>
              <a:ext uri="{FF2B5EF4-FFF2-40B4-BE49-F238E27FC236}">
                <a16:creationId xmlns:a16="http://schemas.microsoft.com/office/drawing/2014/main" id="{C3E8451B-4D63-EC0C-A5C3-579EA00AEDB9}"/>
              </a:ext>
            </a:extLst>
          </p:cNvPr>
          <p:cNvSpPr txBox="1">
            <a:spLocks/>
          </p:cNvSpPr>
          <p:nvPr/>
        </p:nvSpPr>
        <p:spPr>
          <a:xfrm>
            <a:off x="-52429" y="3985510"/>
            <a:ext cx="9143999" cy="67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Elsie"/>
              <a:buNone/>
              <a:defRPr sz="3800" b="0" i="1" u="none" strike="noStrike" cap="none">
                <a:solidFill>
                  <a:schemeClr val="dk1"/>
                </a:solidFill>
                <a:latin typeface="Elsie"/>
                <a:ea typeface="Elsie"/>
                <a:cs typeface="Elsie"/>
                <a:sym typeface="Elsie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Bebas Neue"/>
              <a:buNone/>
              <a:defRPr sz="36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Bebas Neue"/>
              <a:buNone/>
              <a:defRPr sz="36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Bebas Neue"/>
              <a:buNone/>
              <a:defRPr sz="36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Bebas Neue"/>
              <a:buNone/>
              <a:defRPr sz="36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Bebas Neue"/>
              <a:buNone/>
              <a:defRPr sz="36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Bebas Neue"/>
              <a:buNone/>
              <a:defRPr sz="36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Bebas Neue"/>
              <a:buNone/>
              <a:defRPr sz="36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Bebas Neue"/>
              <a:buNone/>
              <a:defRPr sz="36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r>
              <a:rPr lang="en-US" sz="1800" dirty="0"/>
              <a:t>* This is a CRM targeting problem, not just a response prediction problem. 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8F2E4A7F-EE1F-872F-A079-723AF3307927}"/>
              </a:ext>
            </a:extLst>
          </p:cNvPr>
          <p:cNvSpPr/>
          <p:nvPr/>
        </p:nvSpPr>
        <p:spPr>
          <a:xfrm>
            <a:off x="6791330" y="2859986"/>
            <a:ext cx="2131954" cy="1770579"/>
          </a:xfrm>
          <a:prstGeom prst="roundRect">
            <a:avLst/>
          </a:prstGeom>
          <a:solidFill>
            <a:srgbClr val="F6EDFC"/>
          </a:solidFill>
          <a:ln>
            <a:solidFill>
              <a:srgbClr val="AF70E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62060892-6DE1-9CD1-71E5-ABF82DD373D4}"/>
              </a:ext>
            </a:extLst>
          </p:cNvPr>
          <p:cNvSpPr>
            <a:spLocks/>
          </p:cNvSpPr>
          <p:nvPr/>
        </p:nvSpPr>
        <p:spPr>
          <a:xfrm>
            <a:off x="199568" y="2864199"/>
            <a:ext cx="2131954" cy="1762155"/>
          </a:xfrm>
          <a:prstGeom prst="roundRect">
            <a:avLst/>
          </a:prstGeom>
          <a:solidFill>
            <a:srgbClr val="EFF8E6"/>
          </a:solidFill>
          <a:ln>
            <a:solidFill>
              <a:srgbClr val="75B3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" name="Rounded Rectangle 9">
            <a:extLst>
              <a:ext uri="{FF2B5EF4-FFF2-40B4-BE49-F238E27FC236}">
                <a16:creationId xmlns:a16="http://schemas.microsoft.com/office/drawing/2014/main" id="{317DF75B-3BB8-54F1-9C76-F676EDA2F87B}"/>
              </a:ext>
            </a:extLst>
          </p:cNvPr>
          <p:cNvSpPr/>
          <p:nvPr/>
        </p:nvSpPr>
        <p:spPr>
          <a:xfrm>
            <a:off x="4586712" y="2855774"/>
            <a:ext cx="2131954" cy="1770579"/>
          </a:xfrm>
          <a:prstGeom prst="roundRect">
            <a:avLst/>
          </a:prstGeom>
          <a:solidFill>
            <a:srgbClr val="FDEDEC"/>
          </a:solidFill>
          <a:ln>
            <a:solidFill>
              <a:srgbClr val="DF4A4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31AC4757-9DD2-CAF5-D278-B90F0A730FF7}"/>
              </a:ext>
            </a:extLst>
          </p:cNvPr>
          <p:cNvSpPr/>
          <p:nvPr/>
        </p:nvSpPr>
        <p:spPr>
          <a:xfrm>
            <a:off x="2393140" y="2847474"/>
            <a:ext cx="2131954" cy="1778880"/>
          </a:xfrm>
          <a:prstGeom prst="roundRect">
            <a:avLst/>
          </a:prstGeom>
          <a:solidFill>
            <a:srgbClr val="EBF4FB"/>
          </a:solidFill>
          <a:ln>
            <a:solidFill>
              <a:srgbClr val="1D61A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9" name="Google Shape;269;p34"/>
          <p:cNvSpPr txBox="1">
            <a:spLocks noGrp="1"/>
          </p:cNvSpPr>
          <p:nvPr>
            <p:ph type="title"/>
          </p:nvPr>
        </p:nvSpPr>
        <p:spPr>
          <a:xfrm>
            <a:off x="720000" y="2142609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 dirty="0"/>
              <a:t>The Four Customer Types:</a:t>
            </a:r>
            <a:endParaRPr sz="2500" dirty="0"/>
          </a:p>
        </p:txBody>
      </p:sp>
      <p:sp>
        <p:nvSpPr>
          <p:cNvPr id="271" name="Google Shape;271;p34"/>
          <p:cNvSpPr txBox="1">
            <a:spLocks noGrp="1"/>
          </p:cNvSpPr>
          <p:nvPr>
            <p:ph type="subTitle" idx="2"/>
          </p:nvPr>
        </p:nvSpPr>
        <p:spPr>
          <a:xfrm>
            <a:off x="365225" y="3450467"/>
            <a:ext cx="1901992" cy="707548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</a:pPr>
            <a:r>
              <a:rPr lang="en" sz="1600" dirty="0"/>
              <a:t>- Will visit </a:t>
            </a:r>
            <a:r>
              <a:rPr lang="en-US" sz="1600" dirty="0"/>
              <a:t>store,</a:t>
            </a:r>
            <a:r>
              <a:rPr lang="en" sz="1600" dirty="0"/>
              <a:t> regardless</a:t>
            </a:r>
            <a:endParaRPr sz="1600" dirty="0"/>
          </a:p>
        </p:txBody>
      </p:sp>
      <p:sp>
        <p:nvSpPr>
          <p:cNvPr id="272" name="Google Shape;272;p34"/>
          <p:cNvSpPr txBox="1">
            <a:spLocks noGrp="1"/>
          </p:cNvSpPr>
          <p:nvPr>
            <p:ph type="subTitle" idx="3"/>
          </p:nvPr>
        </p:nvSpPr>
        <p:spPr>
          <a:xfrm>
            <a:off x="2451388" y="3450467"/>
            <a:ext cx="2105795" cy="741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dirty="0"/>
              <a:t>- Probability of visiting store increases due to SMS</a:t>
            </a:r>
            <a:endParaRPr sz="1600" dirty="0"/>
          </a:p>
        </p:txBody>
      </p:sp>
      <p:sp>
        <p:nvSpPr>
          <p:cNvPr id="273" name="Google Shape;273;p34"/>
          <p:cNvSpPr txBox="1">
            <a:spLocks noGrp="1"/>
          </p:cNvSpPr>
          <p:nvPr>
            <p:ph type="subTitle" idx="4"/>
          </p:nvPr>
        </p:nvSpPr>
        <p:spPr>
          <a:xfrm>
            <a:off x="4763417" y="3382658"/>
            <a:ext cx="1901990" cy="741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dirty="0"/>
              <a:t>- Low response whether contacted or not</a:t>
            </a:r>
            <a:endParaRPr sz="1600" dirty="0"/>
          </a:p>
        </p:txBody>
      </p:sp>
      <p:sp>
        <p:nvSpPr>
          <p:cNvPr id="274" name="Google Shape;274;p34"/>
          <p:cNvSpPr txBox="1">
            <a:spLocks noGrp="1"/>
          </p:cNvSpPr>
          <p:nvPr>
            <p:ph type="subTitle" idx="5"/>
          </p:nvPr>
        </p:nvSpPr>
        <p:spPr>
          <a:xfrm>
            <a:off x="2267217" y="2598853"/>
            <a:ext cx="2383800" cy="824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 dirty="0" err="1"/>
              <a:t>Persuadables</a:t>
            </a:r>
            <a:endParaRPr sz="2200" dirty="0"/>
          </a:p>
        </p:txBody>
      </p:sp>
      <p:sp>
        <p:nvSpPr>
          <p:cNvPr id="275" name="Google Shape;275;p34"/>
          <p:cNvSpPr txBox="1">
            <a:spLocks noGrp="1"/>
          </p:cNvSpPr>
          <p:nvPr>
            <p:ph type="subTitle" idx="6"/>
          </p:nvPr>
        </p:nvSpPr>
        <p:spPr>
          <a:xfrm>
            <a:off x="4460789" y="2800643"/>
            <a:ext cx="2383800" cy="572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 dirty="0"/>
              <a:t>Lost Causes</a:t>
            </a:r>
            <a:endParaRPr sz="2200" dirty="0"/>
          </a:p>
        </p:txBody>
      </p:sp>
      <p:grpSp>
        <p:nvGrpSpPr>
          <p:cNvPr id="276" name="Google Shape;276;p34"/>
          <p:cNvGrpSpPr/>
          <p:nvPr/>
        </p:nvGrpSpPr>
        <p:grpSpPr>
          <a:xfrm>
            <a:off x="319434" y="1966389"/>
            <a:ext cx="8355316" cy="840300"/>
            <a:chOff x="319434" y="1874350"/>
            <a:chExt cx="8355316" cy="840300"/>
          </a:xfrm>
        </p:grpSpPr>
        <p:sp>
          <p:nvSpPr>
            <p:cNvPr id="277" name="Google Shape;277;p34"/>
            <p:cNvSpPr/>
            <p:nvPr/>
          </p:nvSpPr>
          <p:spPr>
            <a:xfrm>
              <a:off x="319434" y="2254909"/>
              <a:ext cx="197700" cy="197700"/>
            </a:xfrm>
            <a:prstGeom prst="plaque">
              <a:avLst>
                <a:gd name="adj" fmla="val 50000"/>
              </a:avLst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cxnSp>
          <p:nvCxnSpPr>
            <p:cNvPr id="278" name="Google Shape;278;p34"/>
            <p:cNvCxnSpPr/>
            <p:nvPr/>
          </p:nvCxnSpPr>
          <p:spPr>
            <a:xfrm>
              <a:off x="8674750" y="1874350"/>
              <a:ext cx="0" cy="84030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sp>
        <p:nvSpPr>
          <p:cNvPr id="2" name="Google Shape;273;p34">
            <a:extLst>
              <a:ext uri="{FF2B5EF4-FFF2-40B4-BE49-F238E27FC236}">
                <a16:creationId xmlns:a16="http://schemas.microsoft.com/office/drawing/2014/main" id="{D7CCA0F9-10F3-014C-2B48-CD474757B772}"/>
              </a:ext>
            </a:extLst>
          </p:cNvPr>
          <p:cNvSpPr txBox="1">
            <a:spLocks/>
          </p:cNvSpPr>
          <p:nvPr/>
        </p:nvSpPr>
        <p:spPr>
          <a:xfrm>
            <a:off x="6876783" y="3343067"/>
            <a:ext cx="2142895" cy="128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Albert Sans"/>
              <a:buNone/>
              <a:defRPr sz="1200" b="0" i="0" u="none" strike="noStrike" cap="none">
                <a:solidFill>
                  <a:schemeClr val="lt2"/>
                </a:solidFill>
                <a:latin typeface="Albert Sans"/>
                <a:ea typeface="Albert Sans"/>
                <a:cs typeface="Albert Sans"/>
                <a:sym typeface="Albert Sans"/>
              </a:defRPr>
            </a:lvl1pPr>
            <a:lvl2pPr marL="914400" marR="0" lvl="1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Albert Sans"/>
              <a:buNone/>
              <a:defRPr sz="1200" b="0" i="0" u="none" strike="noStrike" cap="none">
                <a:solidFill>
                  <a:schemeClr val="lt2"/>
                </a:solidFill>
                <a:latin typeface="Albert Sans"/>
                <a:ea typeface="Albert Sans"/>
                <a:cs typeface="Albert Sans"/>
                <a:sym typeface="Albert Sans"/>
              </a:defRPr>
            </a:lvl2pPr>
            <a:lvl3pPr marL="1371600" marR="0" lvl="2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Albert Sans"/>
              <a:buNone/>
              <a:defRPr sz="1200" b="0" i="0" u="none" strike="noStrike" cap="none">
                <a:solidFill>
                  <a:schemeClr val="lt2"/>
                </a:solidFill>
                <a:latin typeface="Albert Sans"/>
                <a:ea typeface="Albert Sans"/>
                <a:cs typeface="Albert Sans"/>
                <a:sym typeface="Albert Sans"/>
              </a:defRPr>
            </a:lvl3pPr>
            <a:lvl4pPr marL="1828800" marR="0" lvl="3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Albert Sans"/>
              <a:buNone/>
              <a:defRPr sz="1200" b="0" i="0" u="none" strike="noStrike" cap="none">
                <a:solidFill>
                  <a:schemeClr val="lt2"/>
                </a:solidFill>
                <a:latin typeface="Albert Sans"/>
                <a:ea typeface="Albert Sans"/>
                <a:cs typeface="Albert Sans"/>
                <a:sym typeface="Albert Sans"/>
              </a:defRPr>
            </a:lvl4pPr>
            <a:lvl5pPr marL="2286000" marR="0" lvl="4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Albert Sans"/>
              <a:buNone/>
              <a:defRPr sz="1200" b="0" i="0" u="none" strike="noStrike" cap="none">
                <a:solidFill>
                  <a:schemeClr val="lt2"/>
                </a:solidFill>
                <a:latin typeface="Albert Sans"/>
                <a:ea typeface="Albert Sans"/>
                <a:cs typeface="Albert Sans"/>
                <a:sym typeface="Albert Sans"/>
              </a:defRPr>
            </a:lvl5pPr>
            <a:lvl6pPr marL="2743200" marR="0" lvl="5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Albert Sans"/>
              <a:buNone/>
              <a:defRPr sz="1200" b="0" i="0" u="none" strike="noStrike" cap="none">
                <a:solidFill>
                  <a:schemeClr val="lt2"/>
                </a:solidFill>
                <a:latin typeface="Albert Sans"/>
                <a:ea typeface="Albert Sans"/>
                <a:cs typeface="Albert Sans"/>
                <a:sym typeface="Albert Sans"/>
              </a:defRPr>
            </a:lvl6pPr>
            <a:lvl7pPr marL="3200400" marR="0" lvl="6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Albert Sans"/>
              <a:buNone/>
              <a:defRPr sz="1200" b="0" i="0" u="none" strike="noStrike" cap="none">
                <a:solidFill>
                  <a:schemeClr val="lt2"/>
                </a:solidFill>
                <a:latin typeface="Albert Sans"/>
                <a:ea typeface="Albert Sans"/>
                <a:cs typeface="Albert Sans"/>
                <a:sym typeface="Albert Sans"/>
              </a:defRPr>
            </a:lvl7pPr>
            <a:lvl8pPr marL="3657600" marR="0" lvl="7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Albert Sans"/>
              <a:buNone/>
              <a:defRPr sz="1200" b="0" i="0" u="none" strike="noStrike" cap="none">
                <a:solidFill>
                  <a:schemeClr val="lt2"/>
                </a:solidFill>
                <a:latin typeface="Albert Sans"/>
                <a:ea typeface="Albert Sans"/>
                <a:cs typeface="Albert Sans"/>
                <a:sym typeface="Albert Sans"/>
              </a:defRPr>
            </a:lvl8pPr>
            <a:lvl9pPr marL="4114800" marR="0" lvl="8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Albert Sans"/>
              <a:buNone/>
              <a:defRPr sz="1200" b="0" i="0" u="none" strike="noStrike" cap="none">
                <a:solidFill>
                  <a:schemeClr val="lt2"/>
                </a:solidFill>
                <a:latin typeface="Albert Sans"/>
                <a:ea typeface="Albert Sans"/>
                <a:cs typeface="Albert Sans"/>
                <a:sym typeface="Albert Sans"/>
              </a:defRPr>
            </a:lvl9pPr>
          </a:lstStyle>
          <a:p>
            <a:pPr marL="0" indent="0" algn="l"/>
            <a:r>
              <a:rPr lang="en-US" sz="1600" dirty="0"/>
              <a:t>- Respond negatively to SMS. </a:t>
            </a:r>
          </a:p>
          <a:p>
            <a:pPr marL="0" indent="0" algn="l"/>
            <a:r>
              <a:rPr lang="en-US" sz="1600" dirty="0"/>
              <a:t>- Not observed in dataset</a:t>
            </a:r>
          </a:p>
        </p:txBody>
      </p:sp>
      <p:sp>
        <p:nvSpPr>
          <p:cNvPr id="3" name="Google Shape;275;p34">
            <a:extLst>
              <a:ext uri="{FF2B5EF4-FFF2-40B4-BE49-F238E27FC236}">
                <a16:creationId xmlns:a16="http://schemas.microsoft.com/office/drawing/2014/main" id="{E9857D9C-8D3E-1854-ABC1-942E9EE0B0C0}"/>
              </a:ext>
            </a:extLst>
          </p:cNvPr>
          <p:cNvSpPr txBox="1">
            <a:spLocks/>
          </p:cNvSpPr>
          <p:nvPr/>
        </p:nvSpPr>
        <p:spPr>
          <a:xfrm>
            <a:off x="6665407" y="2809958"/>
            <a:ext cx="23838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Elsie"/>
              <a:buNone/>
              <a:defRPr sz="2000" b="0" i="1" u="none" strike="noStrike" cap="none">
                <a:solidFill>
                  <a:schemeClr val="dk1"/>
                </a:solidFill>
                <a:latin typeface="Elsie"/>
                <a:ea typeface="Elsie"/>
                <a:cs typeface="Elsie"/>
                <a:sym typeface="Elsie"/>
              </a:defRPr>
            </a:lvl1pPr>
            <a:lvl2pPr marL="914400" marR="0" lvl="1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Elsie"/>
              <a:buNone/>
              <a:defRPr sz="2400" b="0" i="1" u="none" strike="noStrike" cap="none">
                <a:solidFill>
                  <a:schemeClr val="dk1"/>
                </a:solidFill>
                <a:latin typeface="Elsie"/>
                <a:ea typeface="Elsie"/>
                <a:cs typeface="Elsie"/>
                <a:sym typeface="Elsie"/>
              </a:defRPr>
            </a:lvl2pPr>
            <a:lvl3pPr marL="1371600" marR="0" lvl="2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Elsie"/>
              <a:buNone/>
              <a:defRPr sz="2400" b="0" i="1" u="none" strike="noStrike" cap="none">
                <a:solidFill>
                  <a:schemeClr val="dk1"/>
                </a:solidFill>
                <a:latin typeface="Elsie"/>
                <a:ea typeface="Elsie"/>
                <a:cs typeface="Elsie"/>
                <a:sym typeface="Elsie"/>
              </a:defRPr>
            </a:lvl3pPr>
            <a:lvl4pPr marL="1828800" marR="0" lvl="3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Elsie"/>
              <a:buNone/>
              <a:defRPr sz="2400" b="0" i="1" u="none" strike="noStrike" cap="none">
                <a:solidFill>
                  <a:schemeClr val="dk1"/>
                </a:solidFill>
                <a:latin typeface="Elsie"/>
                <a:ea typeface="Elsie"/>
                <a:cs typeface="Elsie"/>
                <a:sym typeface="Elsie"/>
              </a:defRPr>
            </a:lvl4pPr>
            <a:lvl5pPr marL="2286000" marR="0" lvl="4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Elsie"/>
              <a:buNone/>
              <a:defRPr sz="2400" b="0" i="1" u="none" strike="noStrike" cap="none">
                <a:solidFill>
                  <a:schemeClr val="dk1"/>
                </a:solidFill>
                <a:latin typeface="Elsie"/>
                <a:ea typeface="Elsie"/>
                <a:cs typeface="Elsie"/>
                <a:sym typeface="Elsie"/>
              </a:defRPr>
            </a:lvl5pPr>
            <a:lvl6pPr marL="2743200" marR="0" lvl="5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Elsie"/>
              <a:buNone/>
              <a:defRPr sz="2400" b="0" i="1" u="none" strike="noStrike" cap="none">
                <a:solidFill>
                  <a:schemeClr val="dk1"/>
                </a:solidFill>
                <a:latin typeface="Elsie"/>
                <a:ea typeface="Elsie"/>
                <a:cs typeface="Elsie"/>
                <a:sym typeface="Elsie"/>
              </a:defRPr>
            </a:lvl6pPr>
            <a:lvl7pPr marL="3200400" marR="0" lvl="6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Elsie"/>
              <a:buNone/>
              <a:defRPr sz="2400" b="0" i="1" u="none" strike="noStrike" cap="none">
                <a:solidFill>
                  <a:schemeClr val="dk1"/>
                </a:solidFill>
                <a:latin typeface="Elsie"/>
                <a:ea typeface="Elsie"/>
                <a:cs typeface="Elsie"/>
                <a:sym typeface="Elsie"/>
              </a:defRPr>
            </a:lvl7pPr>
            <a:lvl8pPr marL="3657600" marR="0" lvl="7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Elsie"/>
              <a:buNone/>
              <a:defRPr sz="2400" b="0" i="1" u="none" strike="noStrike" cap="none">
                <a:solidFill>
                  <a:schemeClr val="dk1"/>
                </a:solidFill>
                <a:latin typeface="Elsie"/>
                <a:ea typeface="Elsie"/>
                <a:cs typeface="Elsie"/>
                <a:sym typeface="Elsie"/>
              </a:defRPr>
            </a:lvl8pPr>
            <a:lvl9pPr marL="4114800" marR="0" lvl="8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Elsie"/>
              <a:buNone/>
              <a:defRPr sz="2400" b="0" i="1" u="none" strike="noStrike" cap="none">
                <a:solidFill>
                  <a:schemeClr val="dk1"/>
                </a:solidFill>
                <a:latin typeface="Elsie"/>
                <a:ea typeface="Elsie"/>
                <a:cs typeface="Elsie"/>
                <a:sym typeface="Elsie"/>
              </a:defRPr>
            </a:lvl9pPr>
          </a:lstStyle>
          <a:p>
            <a:pPr marL="0" indent="0"/>
            <a:r>
              <a:rPr lang="en-US" sz="2200" dirty="0"/>
              <a:t>Do-Not-Disturbs</a:t>
            </a:r>
          </a:p>
        </p:txBody>
      </p:sp>
      <p:sp>
        <p:nvSpPr>
          <p:cNvPr id="270" name="Google Shape;270;p34"/>
          <p:cNvSpPr txBox="1">
            <a:spLocks noGrp="1"/>
          </p:cNvSpPr>
          <p:nvPr>
            <p:ph type="subTitle" idx="1"/>
          </p:nvPr>
        </p:nvSpPr>
        <p:spPr>
          <a:xfrm>
            <a:off x="73645" y="2598853"/>
            <a:ext cx="2383800" cy="824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 dirty="0"/>
              <a:t>Sure Things</a:t>
            </a:r>
            <a:endParaRPr sz="2200" dirty="0"/>
          </a:p>
        </p:txBody>
      </p:sp>
      <p:sp>
        <p:nvSpPr>
          <p:cNvPr id="11" name="Google Shape;269;p34">
            <a:extLst>
              <a:ext uri="{FF2B5EF4-FFF2-40B4-BE49-F238E27FC236}">
                <a16:creationId xmlns:a16="http://schemas.microsoft.com/office/drawing/2014/main" id="{11FBD0B2-3226-1973-48A5-E3D7DFCA9E0F}"/>
              </a:ext>
            </a:extLst>
          </p:cNvPr>
          <p:cNvSpPr txBox="1">
            <a:spLocks/>
          </p:cNvSpPr>
          <p:nvPr/>
        </p:nvSpPr>
        <p:spPr>
          <a:xfrm>
            <a:off x="673094" y="588143"/>
            <a:ext cx="77040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Elsie"/>
              <a:buNone/>
              <a:defRPr sz="3500" b="0" i="1" u="none" strike="noStrike" cap="none">
                <a:solidFill>
                  <a:schemeClr val="dk1"/>
                </a:solidFill>
                <a:latin typeface="Elsie"/>
                <a:ea typeface="Elsie"/>
                <a:cs typeface="Elsie"/>
                <a:sym typeface="Elsie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r>
              <a:rPr lang="en-US" dirty="0"/>
              <a:t>Why does this matter?</a:t>
            </a:r>
          </a:p>
        </p:txBody>
      </p:sp>
      <p:sp>
        <p:nvSpPr>
          <p:cNvPr id="12" name="Google Shape;269;p34">
            <a:extLst>
              <a:ext uri="{FF2B5EF4-FFF2-40B4-BE49-F238E27FC236}">
                <a16:creationId xmlns:a16="http://schemas.microsoft.com/office/drawing/2014/main" id="{CDD0A996-DB1D-5B3E-A800-07759E7EFA30}"/>
              </a:ext>
            </a:extLst>
          </p:cNvPr>
          <p:cNvSpPr txBox="1">
            <a:spLocks/>
          </p:cNvSpPr>
          <p:nvPr/>
        </p:nvSpPr>
        <p:spPr>
          <a:xfrm>
            <a:off x="720000" y="1315386"/>
            <a:ext cx="77040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Elsie"/>
              <a:buNone/>
              <a:defRPr sz="3500" b="0" i="1" u="none" strike="noStrike" cap="none">
                <a:solidFill>
                  <a:schemeClr val="dk1"/>
                </a:solidFill>
                <a:latin typeface="Elsie"/>
                <a:ea typeface="Elsie"/>
                <a:cs typeface="Elsie"/>
                <a:sym typeface="Elsie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r>
              <a:rPr lang="en-US" sz="2000" dirty="0"/>
              <a:t>Budget Constraints &amp; deterring customers!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8">
          <a:extLst>
            <a:ext uri="{FF2B5EF4-FFF2-40B4-BE49-F238E27FC236}">
              <a16:creationId xmlns:a16="http://schemas.microsoft.com/office/drawing/2014/main" id="{E747CBE2-092E-7094-EAC0-CF4DDF7298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9" name="Google Shape;269;p34">
            <a:extLst>
              <a:ext uri="{FF2B5EF4-FFF2-40B4-BE49-F238E27FC236}">
                <a16:creationId xmlns:a16="http://schemas.microsoft.com/office/drawing/2014/main" id="{914BD2B7-1C99-600B-E9F6-0BBE66838F76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20000" y="631516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Steps:</a:t>
            </a:r>
            <a:endParaRPr dirty="0"/>
          </a:p>
        </p:txBody>
      </p:sp>
      <p:grpSp>
        <p:nvGrpSpPr>
          <p:cNvPr id="276" name="Google Shape;276;p34">
            <a:extLst>
              <a:ext uri="{FF2B5EF4-FFF2-40B4-BE49-F238E27FC236}">
                <a16:creationId xmlns:a16="http://schemas.microsoft.com/office/drawing/2014/main" id="{87476E31-60ED-93BF-81DD-417AD0D3FACF}"/>
              </a:ext>
            </a:extLst>
          </p:cNvPr>
          <p:cNvGrpSpPr/>
          <p:nvPr/>
        </p:nvGrpSpPr>
        <p:grpSpPr>
          <a:xfrm>
            <a:off x="319434" y="1966389"/>
            <a:ext cx="8355316" cy="840300"/>
            <a:chOff x="319434" y="1874350"/>
            <a:chExt cx="8355316" cy="840300"/>
          </a:xfrm>
        </p:grpSpPr>
        <p:sp>
          <p:nvSpPr>
            <p:cNvPr id="277" name="Google Shape;277;p34">
              <a:extLst>
                <a:ext uri="{FF2B5EF4-FFF2-40B4-BE49-F238E27FC236}">
                  <a16:creationId xmlns:a16="http://schemas.microsoft.com/office/drawing/2014/main" id="{9E3988D2-C619-0949-A78D-09912A59A777}"/>
                </a:ext>
              </a:extLst>
            </p:cNvPr>
            <p:cNvSpPr/>
            <p:nvPr/>
          </p:nvSpPr>
          <p:spPr>
            <a:xfrm>
              <a:off x="319434" y="2254909"/>
              <a:ext cx="197700" cy="197700"/>
            </a:xfrm>
            <a:prstGeom prst="plaque">
              <a:avLst>
                <a:gd name="adj" fmla="val 50000"/>
              </a:avLst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cxnSp>
          <p:nvCxnSpPr>
            <p:cNvPr id="278" name="Google Shape;278;p34">
              <a:extLst>
                <a:ext uri="{FF2B5EF4-FFF2-40B4-BE49-F238E27FC236}">
                  <a16:creationId xmlns:a16="http://schemas.microsoft.com/office/drawing/2014/main" id="{3A469F32-AF03-17B3-AF40-BF97FB65323C}"/>
                </a:ext>
              </a:extLst>
            </p:cNvPr>
            <p:cNvCxnSpPr/>
            <p:nvPr/>
          </p:nvCxnSpPr>
          <p:spPr>
            <a:xfrm>
              <a:off x="8674750" y="1874350"/>
              <a:ext cx="0" cy="84030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94619AD7-EEF2-3B69-415C-2E108D61E6F4}"/>
              </a:ext>
            </a:extLst>
          </p:cNvPr>
          <p:cNvSpPr/>
          <p:nvPr/>
        </p:nvSpPr>
        <p:spPr>
          <a:xfrm>
            <a:off x="877457" y="1564610"/>
            <a:ext cx="7389086" cy="572701"/>
          </a:xfrm>
          <a:prstGeom prst="roundRect">
            <a:avLst/>
          </a:prstGeom>
          <a:solidFill>
            <a:srgbClr val="EBF4FB">
              <a:alpha val="45000"/>
            </a:srgbClr>
          </a:solidFill>
          <a:ln>
            <a:solidFill>
              <a:srgbClr val="1D61A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500" dirty="0">
                <a:solidFill>
                  <a:srgbClr val="050304"/>
                </a:solidFill>
              </a:rPr>
              <a:t>Build behavior-based customer segments from transaction history.</a:t>
            </a:r>
          </a:p>
        </p:txBody>
      </p:sp>
      <p:sp>
        <p:nvSpPr>
          <p:cNvPr id="18" name="Rounded Rectangle 17">
            <a:extLst>
              <a:ext uri="{FF2B5EF4-FFF2-40B4-BE49-F238E27FC236}">
                <a16:creationId xmlns:a16="http://schemas.microsoft.com/office/drawing/2014/main" id="{E4EAA17C-097F-B709-3169-D82C105C07CA}"/>
              </a:ext>
            </a:extLst>
          </p:cNvPr>
          <p:cNvSpPr/>
          <p:nvPr/>
        </p:nvSpPr>
        <p:spPr>
          <a:xfrm>
            <a:off x="877457" y="2285399"/>
            <a:ext cx="7389086" cy="572701"/>
          </a:xfrm>
          <a:prstGeom prst="roundRect">
            <a:avLst/>
          </a:prstGeom>
          <a:solidFill>
            <a:srgbClr val="EBF4FB">
              <a:alpha val="45000"/>
            </a:srgbClr>
          </a:solidFill>
          <a:ln>
            <a:solidFill>
              <a:srgbClr val="1D61A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500" dirty="0">
                <a:solidFill>
                  <a:srgbClr val="050304"/>
                </a:solidFill>
              </a:rPr>
              <a:t>Estimate uplift inside each segment by comparing treated vs. control customers.</a:t>
            </a:r>
          </a:p>
        </p:txBody>
      </p:sp>
      <p:sp>
        <p:nvSpPr>
          <p:cNvPr id="19" name="Rounded Rectangle 18">
            <a:extLst>
              <a:ext uri="{FF2B5EF4-FFF2-40B4-BE49-F238E27FC236}">
                <a16:creationId xmlns:a16="http://schemas.microsoft.com/office/drawing/2014/main" id="{53DB16F7-7260-3EBE-8034-9E2F6A1373E8}"/>
              </a:ext>
            </a:extLst>
          </p:cNvPr>
          <p:cNvSpPr/>
          <p:nvPr/>
        </p:nvSpPr>
        <p:spPr>
          <a:xfrm>
            <a:off x="877457" y="2991635"/>
            <a:ext cx="7389086" cy="572701"/>
          </a:xfrm>
          <a:prstGeom prst="roundRect">
            <a:avLst/>
          </a:prstGeom>
          <a:solidFill>
            <a:srgbClr val="EBF4FB">
              <a:alpha val="45000"/>
            </a:srgbClr>
          </a:solidFill>
          <a:ln>
            <a:solidFill>
              <a:srgbClr val="1D61A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500" dirty="0">
                <a:solidFill>
                  <a:srgbClr val="050304"/>
                </a:solidFill>
              </a:rPr>
              <a:t>Turn the strongest uplift segments into an operational “</a:t>
            </a:r>
            <a:r>
              <a:rPr lang="en-US" sz="1500" dirty="0" err="1">
                <a:solidFill>
                  <a:srgbClr val="050304"/>
                </a:solidFill>
              </a:rPr>
              <a:t>persuadables</a:t>
            </a:r>
            <a:r>
              <a:rPr lang="en-US" sz="1500" dirty="0">
                <a:solidFill>
                  <a:srgbClr val="050304"/>
                </a:solidFill>
              </a:rPr>
              <a:t>” targeting model.</a:t>
            </a:r>
          </a:p>
        </p:txBody>
      </p:sp>
    </p:spTree>
    <p:extLst>
      <p:ext uri="{BB962C8B-B14F-4D97-AF65-F5344CB8AC3E}">
        <p14:creationId xmlns:p14="http://schemas.microsoft.com/office/powerpoint/2010/main" val="31809581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8">
          <a:extLst>
            <a:ext uri="{FF2B5EF4-FFF2-40B4-BE49-F238E27FC236}">
              <a16:creationId xmlns:a16="http://schemas.microsoft.com/office/drawing/2014/main" id="{B346845E-8553-CED4-626B-3C21C3BEA3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9" name="Google Shape;269;p34">
            <a:extLst>
              <a:ext uri="{FF2B5EF4-FFF2-40B4-BE49-F238E27FC236}">
                <a16:creationId xmlns:a16="http://schemas.microsoft.com/office/drawing/2014/main" id="{32305167-674F-82C0-2DB0-10FFD8ABC194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20000" y="458988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Data &amp; Analytical Pipeline: </a:t>
            </a:r>
            <a:endParaRPr dirty="0"/>
          </a:p>
        </p:txBody>
      </p:sp>
      <p:grpSp>
        <p:nvGrpSpPr>
          <p:cNvPr id="276" name="Google Shape;276;p34">
            <a:extLst>
              <a:ext uri="{FF2B5EF4-FFF2-40B4-BE49-F238E27FC236}">
                <a16:creationId xmlns:a16="http://schemas.microsoft.com/office/drawing/2014/main" id="{2F81C0D0-4BC5-2ABA-AD75-45C8CBBBB5CF}"/>
              </a:ext>
            </a:extLst>
          </p:cNvPr>
          <p:cNvGrpSpPr/>
          <p:nvPr/>
        </p:nvGrpSpPr>
        <p:grpSpPr>
          <a:xfrm>
            <a:off x="319434" y="1966389"/>
            <a:ext cx="8355316" cy="840300"/>
            <a:chOff x="319434" y="1874350"/>
            <a:chExt cx="8355316" cy="840300"/>
          </a:xfrm>
        </p:grpSpPr>
        <p:sp>
          <p:nvSpPr>
            <p:cNvPr id="277" name="Google Shape;277;p34">
              <a:extLst>
                <a:ext uri="{FF2B5EF4-FFF2-40B4-BE49-F238E27FC236}">
                  <a16:creationId xmlns:a16="http://schemas.microsoft.com/office/drawing/2014/main" id="{4306324A-736E-A873-F5A5-F700CA60671E}"/>
                </a:ext>
              </a:extLst>
            </p:cNvPr>
            <p:cNvSpPr/>
            <p:nvPr/>
          </p:nvSpPr>
          <p:spPr>
            <a:xfrm>
              <a:off x="319434" y="2254909"/>
              <a:ext cx="197700" cy="197700"/>
            </a:xfrm>
            <a:prstGeom prst="plaque">
              <a:avLst>
                <a:gd name="adj" fmla="val 50000"/>
              </a:avLst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cxnSp>
          <p:nvCxnSpPr>
            <p:cNvPr id="278" name="Google Shape;278;p34">
              <a:extLst>
                <a:ext uri="{FF2B5EF4-FFF2-40B4-BE49-F238E27FC236}">
                  <a16:creationId xmlns:a16="http://schemas.microsoft.com/office/drawing/2014/main" id="{A783BDC5-395F-1AF8-95FF-10FB58AA163F}"/>
                </a:ext>
              </a:extLst>
            </p:cNvPr>
            <p:cNvCxnSpPr/>
            <p:nvPr/>
          </p:nvCxnSpPr>
          <p:spPr>
            <a:xfrm>
              <a:off x="8674750" y="1874350"/>
              <a:ext cx="0" cy="84030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sp>
        <p:nvSpPr>
          <p:cNvPr id="2" name="Google Shape;269;p34">
            <a:extLst>
              <a:ext uri="{FF2B5EF4-FFF2-40B4-BE49-F238E27FC236}">
                <a16:creationId xmlns:a16="http://schemas.microsoft.com/office/drawing/2014/main" id="{7A768855-CF83-5917-8228-56BE62323B6A}"/>
              </a:ext>
            </a:extLst>
          </p:cNvPr>
          <p:cNvSpPr txBox="1">
            <a:spLocks/>
          </p:cNvSpPr>
          <p:nvPr/>
        </p:nvSpPr>
        <p:spPr>
          <a:xfrm>
            <a:off x="319434" y="1152458"/>
            <a:ext cx="2320249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Elsie"/>
              <a:buNone/>
              <a:defRPr sz="3500" b="0" i="1" u="none" strike="noStrike" cap="none">
                <a:solidFill>
                  <a:schemeClr val="dk1"/>
                </a:solidFill>
                <a:latin typeface="Elsie"/>
                <a:ea typeface="Elsie"/>
                <a:cs typeface="Elsie"/>
                <a:sym typeface="Elsie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pPr algn="l"/>
            <a:r>
              <a:rPr lang="en-US" sz="2000" dirty="0"/>
              <a:t>Preprocessing:</a:t>
            </a:r>
          </a:p>
        </p:txBody>
      </p:sp>
      <p:sp>
        <p:nvSpPr>
          <p:cNvPr id="4" name="Google Shape;269;p34">
            <a:extLst>
              <a:ext uri="{FF2B5EF4-FFF2-40B4-BE49-F238E27FC236}">
                <a16:creationId xmlns:a16="http://schemas.microsoft.com/office/drawing/2014/main" id="{445B78D0-5B4B-46EC-1F92-B50A198F7795}"/>
              </a:ext>
            </a:extLst>
          </p:cNvPr>
          <p:cNvSpPr txBox="1">
            <a:spLocks/>
          </p:cNvSpPr>
          <p:nvPr/>
        </p:nvSpPr>
        <p:spPr>
          <a:xfrm>
            <a:off x="517134" y="1546859"/>
            <a:ext cx="9226833" cy="11506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Elsie"/>
              <a:buNone/>
              <a:defRPr sz="3500" b="0" i="1" u="none" strike="noStrike" cap="none">
                <a:solidFill>
                  <a:schemeClr val="dk1"/>
                </a:solidFill>
                <a:latin typeface="Elsie"/>
                <a:ea typeface="Elsie"/>
                <a:cs typeface="Elsie"/>
                <a:sym typeface="Elsie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pPr algn="l"/>
            <a:r>
              <a:rPr lang="en-US" sz="1800" i="0" dirty="0"/>
              <a:t>1. Clean invalid values and standardize treatment </a:t>
            </a:r>
          </a:p>
          <a:p>
            <a:pPr algn="l"/>
            <a:r>
              <a:rPr lang="en-US" sz="1800" i="0" dirty="0"/>
              <a:t>2. Filter extreme missingness and zero-dominance</a:t>
            </a:r>
          </a:p>
          <a:p>
            <a:pPr algn="l"/>
            <a:r>
              <a:rPr lang="en-US" sz="1800" i="0" dirty="0"/>
              <a:t>3. Apply log1p, median imputation, and feature scaling </a:t>
            </a:r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36BEB3F1-511E-33B6-43A5-D37D8CA5D0DC}"/>
              </a:ext>
            </a:extLst>
          </p:cNvPr>
          <p:cNvSpPr/>
          <p:nvPr/>
        </p:nvSpPr>
        <p:spPr>
          <a:xfrm>
            <a:off x="196105" y="2838802"/>
            <a:ext cx="1376010" cy="1782564"/>
          </a:xfrm>
          <a:prstGeom prst="roundRect">
            <a:avLst/>
          </a:prstGeom>
          <a:solidFill>
            <a:srgbClr val="EAF3FB"/>
          </a:solidFill>
          <a:ln>
            <a:solidFill>
              <a:srgbClr val="437BB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959E3241-E521-4CE8-2B4A-119F7BF720B5}"/>
              </a:ext>
            </a:extLst>
          </p:cNvPr>
          <p:cNvSpPr/>
          <p:nvPr/>
        </p:nvSpPr>
        <p:spPr>
          <a:xfrm>
            <a:off x="2040050" y="2795302"/>
            <a:ext cx="1376010" cy="1782564"/>
          </a:xfrm>
          <a:prstGeom prst="roundRect">
            <a:avLst/>
          </a:prstGeom>
          <a:solidFill>
            <a:srgbClr val="FFFFFF"/>
          </a:solidFill>
          <a:ln>
            <a:solidFill>
              <a:srgbClr val="D9E2E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D02BB8D0-A6D5-1CDB-BDEE-4E4A795E00F0}"/>
              </a:ext>
            </a:extLst>
          </p:cNvPr>
          <p:cNvSpPr/>
          <p:nvPr/>
        </p:nvSpPr>
        <p:spPr>
          <a:xfrm>
            <a:off x="3883995" y="2806689"/>
            <a:ext cx="1376010" cy="1782564"/>
          </a:xfrm>
          <a:prstGeom prst="roundRect">
            <a:avLst/>
          </a:prstGeom>
          <a:solidFill>
            <a:srgbClr val="EAF3FB"/>
          </a:solidFill>
          <a:ln>
            <a:solidFill>
              <a:srgbClr val="437BB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3BE8119B-46A6-54BA-A303-3FFBD205DA86}"/>
              </a:ext>
            </a:extLst>
          </p:cNvPr>
          <p:cNvSpPr/>
          <p:nvPr/>
        </p:nvSpPr>
        <p:spPr>
          <a:xfrm>
            <a:off x="5727940" y="2806689"/>
            <a:ext cx="1376010" cy="1782564"/>
          </a:xfrm>
          <a:prstGeom prst="roundRect">
            <a:avLst/>
          </a:prstGeom>
          <a:solidFill>
            <a:srgbClr val="FFFFFF"/>
          </a:solidFill>
          <a:ln>
            <a:solidFill>
              <a:srgbClr val="D9E2E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ounded Rectangle 9">
            <a:extLst>
              <a:ext uri="{FF2B5EF4-FFF2-40B4-BE49-F238E27FC236}">
                <a16:creationId xmlns:a16="http://schemas.microsoft.com/office/drawing/2014/main" id="{D1E5B33B-A4A2-1662-CF92-6A493F59A69A}"/>
              </a:ext>
            </a:extLst>
          </p:cNvPr>
          <p:cNvSpPr/>
          <p:nvPr/>
        </p:nvSpPr>
        <p:spPr>
          <a:xfrm>
            <a:off x="7571885" y="2795302"/>
            <a:ext cx="1376010" cy="1782564"/>
          </a:xfrm>
          <a:prstGeom prst="roundRect">
            <a:avLst/>
          </a:prstGeom>
          <a:solidFill>
            <a:srgbClr val="EAF3FB"/>
          </a:solidFill>
          <a:ln>
            <a:solidFill>
              <a:srgbClr val="437BB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Google Shape;269;p34">
            <a:extLst>
              <a:ext uri="{FF2B5EF4-FFF2-40B4-BE49-F238E27FC236}">
                <a16:creationId xmlns:a16="http://schemas.microsoft.com/office/drawing/2014/main" id="{5EB34E75-4215-5C99-6DC0-EE4E7CB2F2D3}"/>
              </a:ext>
            </a:extLst>
          </p:cNvPr>
          <p:cNvSpPr txBox="1">
            <a:spLocks/>
          </p:cNvSpPr>
          <p:nvPr/>
        </p:nvSpPr>
        <p:spPr>
          <a:xfrm>
            <a:off x="458285" y="2926347"/>
            <a:ext cx="851651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Elsie"/>
              <a:buNone/>
              <a:defRPr sz="3500" b="0" i="1" u="none" strike="noStrike" cap="none">
                <a:solidFill>
                  <a:schemeClr val="dk1"/>
                </a:solidFill>
                <a:latin typeface="Elsie"/>
                <a:ea typeface="Elsie"/>
                <a:cs typeface="Elsie"/>
                <a:sym typeface="Elsie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pPr algn="l"/>
            <a:r>
              <a:rPr lang="en-US" sz="2000" dirty="0"/>
              <a:t>PCA:</a:t>
            </a:r>
          </a:p>
        </p:txBody>
      </p:sp>
      <p:sp>
        <p:nvSpPr>
          <p:cNvPr id="12" name="Google Shape;269;p34">
            <a:extLst>
              <a:ext uri="{FF2B5EF4-FFF2-40B4-BE49-F238E27FC236}">
                <a16:creationId xmlns:a16="http://schemas.microsoft.com/office/drawing/2014/main" id="{1B7AA432-A195-38EE-2B29-E0E4F2211207}"/>
              </a:ext>
            </a:extLst>
          </p:cNvPr>
          <p:cNvSpPr txBox="1">
            <a:spLocks/>
          </p:cNvSpPr>
          <p:nvPr/>
        </p:nvSpPr>
        <p:spPr>
          <a:xfrm>
            <a:off x="2110372" y="2849421"/>
            <a:ext cx="1511444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Elsie"/>
              <a:buNone/>
              <a:defRPr sz="3500" b="0" i="1" u="none" strike="noStrike" cap="none">
                <a:solidFill>
                  <a:schemeClr val="dk1"/>
                </a:solidFill>
                <a:latin typeface="Elsie"/>
                <a:ea typeface="Elsie"/>
                <a:cs typeface="Elsie"/>
                <a:sym typeface="Elsie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pPr algn="l"/>
            <a:r>
              <a:rPr lang="en-US" sz="2000" dirty="0"/>
              <a:t>K-means:</a:t>
            </a:r>
          </a:p>
        </p:txBody>
      </p:sp>
      <p:sp>
        <p:nvSpPr>
          <p:cNvPr id="13" name="Google Shape;269;p34">
            <a:extLst>
              <a:ext uri="{FF2B5EF4-FFF2-40B4-BE49-F238E27FC236}">
                <a16:creationId xmlns:a16="http://schemas.microsoft.com/office/drawing/2014/main" id="{4A77E6E0-91E6-1939-B900-D2A248E9BD17}"/>
              </a:ext>
            </a:extLst>
          </p:cNvPr>
          <p:cNvSpPr txBox="1">
            <a:spLocks/>
          </p:cNvSpPr>
          <p:nvPr/>
        </p:nvSpPr>
        <p:spPr>
          <a:xfrm>
            <a:off x="4076124" y="2848926"/>
            <a:ext cx="1511444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Elsie"/>
              <a:buNone/>
              <a:defRPr sz="3500" b="0" i="1" u="none" strike="noStrike" cap="none">
                <a:solidFill>
                  <a:schemeClr val="dk1"/>
                </a:solidFill>
                <a:latin typeface="Elsie"/>
                <a:ea typeface="Elsie"/>
                <a:cs typeface="Elsie"/>
                <a:sym typeface="Elsie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pPr algn="l"/>
            <a:r>
              <a:rPr lang="en-US" sz="2000" dirty="0"/>
              <a:t>Uplift:</a:t>
            </a:r>
          </a:p>
        </p:txBody>
      </p:sp>
      <p:sp>
        <p:nvSpPr>
          <p:cNvPr id="14" name="Google Shape;269;p34">
            <a:extLst>
              <a:ext uri="{FF2B5EF4-FFF2-40B4-BE49-F238E27FC236}">
                <a16:creationId xmlns:a16="http://schemas.microsoft.com/office/drawing/2014/main" id="{0E599524-831C-2CC5-0AA2-F303AF682F07}"/>
              </a:ext>
            </a:extLst>
          </p:cNvPr>
          <p:cNvSpPr txBox="1">
            <a:spLocks/>
          </p:cNvSpPr>
          <p:nvPr/>
        </p:nvSpPr>
        <p:spPr>
          <a:xfrm>
            <a:off x="5745192" y="2846143"/>
            <a:ext cx="1511444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Elsie"/>
              <a:buNone/>
              <a:defRPr sz="3500" b="0" i="1" u="none" strike="noStrike" cap="none">
                <a:solidFill>
                  <a:schemeClr val="dk1"/>
                </a:solidFill>
                <a:latin typeface="Elsie"/>
                <a:ea typeface="Elsie"/>
                <a:cs typeface="Elsie"/>
                <a:sym typeface="Elsie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pPr algn="l"/>
            <a:r>
              <a:rPr lang="en-US" sz="2000" dirty="0"/>
              <a:t>Validation:</a:t>
            </a:r>
          </a:p>
        </p:txBody>
      </p:sp>
      <p:sp>
        <p:nvSpPr>
          <p:cNvPr id="15" name="Google Shape;269;p34">
            <a:extLst>
              <a:ext uri="{FF2B5EF4-FFF2-40B4-BE49-F238E27FC236}">
                <a16:creationId xmlns:a16="http://schemas.microsoft.com/office/drawing/2014/main" id="{E7F9B9E8-C104-FA1E-85A8-ADF2B19B8075}"/>
              </a:ext>
            </a:extLst>
          </p:cNvPr>
          <p:cNvSpPr txBox="1">
            <a:spLocks/>
          </p:cNvSpPr>
          <p:nvPr/>
        </p:nvSpPr>
        <p:spPr>
          <a:xfrm>
            <a:off x="7571885" y="2830706"/>
            <a:ext cx="1511444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Elsie"/>
              <a:buNone/>
              <a:defRPr sz="3500" b="0" i="1" u="none" strike="noStrike" cap="none">
                <a:solidFill>
                  <a:schemeClr val="dk1"/>
                </a:solidFill>
                <a:latin typeface="Elsie"/>
                <a:ea typeface="Elsie"/>
                <a:cs typeface="Elsie"/>
                <a:sym typeface="Elsie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pPr algn="l"/>
            <a:r>
              <a:rPr lang="en-US" sz="2000" dirty="0"/>
              <a:t>Targeting:</a:t>
            </a:r>
          </a:p>
        </p:txBody>
      </p:sp>
      <p:sp>
        <p:nvSpPr>
          <p:cNvPr id="16" name="Right Arrow 15">
            <a:extLst>
              <a:ext uri="{FF2B5EF4-FFF2-40B4-BE49-F238E27FC236}">
                <a16:creationId xmlns:a16="http://schemas.microsoft.com/office/drawing/2014/main" id="{6CC31078-8DA9-3F19-C766-C85B27864EA9}"/>
              </a:ext>
            </a:extLst>
          </p:cNvPr>
          <p:cNvSpPr/>
          <p:nvPr/>
        </p:nvSpPr>
        <p:spPr>
          <a:xfrm>
            <a:off x="1572115" y="3547302"/>
            <a:ext cx="467935" cy="392327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ight Arrow 16">
            <a:extLst>
              <a:ext uri="{FF2B5EF4-FFF2-40B4-BE49-F238E27FC236}">
                <a16:creationId xmlns:a16="http://schemas.microsoft.com/office/drawing/2014/main" id="{D02192D6-0FE5-BE4F-0C0C-ACA37FB293C7}"/>
              </a:ext>
            </a:extLst>
          </p:cNvPr>
          <p:cNvSpPr/>
          <p:nvPr/>
        </p:nvSpPr>
        <p:spPr>
          <a:xfrm>
            <a:off x="7103950" y="3552023"/>
            <a:ext cx="467935" cy="392327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ight Arrow 19">
            <a:extLst>
              <a:ext uri="{FF2B5EF4-FFF2-40B4-BE49-F238E27FC236}">
                <a16:creationId xmlns:a16="http://schemas.microsoft.com/office/drawing/2014/main" id="{39CA9ED9-2756-7117-A002-AB5A480C9E8B}"/>
              </a:ext>
            </a:extLst>
          </p:cNvPr>
          <p:cNvSpPr/>
          <p:nvPr/>
        </p:nvSpPr>
        <p:spPr>
          <a:xfrm>
            <a:off x="5260005" y="3547302"/>
            <a:ext cx="467935" cy="392327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ight Arrow 20">
            <a:extLst>
              <a:ext uri="{FF2B5EF4-FFF2-40B4-BE49-F238E27FC236}">
                <a16:creationId xmlns:a16="http://schemas.microsoft.com/office/drawing/2014/main" id="{0FF24CFE-66FF-A599-2AC4-0A03DACA5413}"/>
              </a:ext>
            </a:extLst>
          </p:cNvPr>
          <p:cNvSpPr/>
          <p:nvPr/>
        </p:nvSpPr>
        <p:spPr>
          <a:xfrm>
            <a:off x="3416060" y="3547302"/>
            <a:ext cx="467935" cy="392327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Google Shape;269;p34">
            <a:extLst>
              <a:ext uri="{FF2B5EF4-FFF2-40B4-BE49-F238E27FC236}">
                <a16:creationId xmlns:a16="http://schemas.microsoft.com/office/drawing/2014/main" id="{260CFAF9-B10E-24F1-FB3E-39CD00F656CF}"/>
              </a:ext>
            </a:extLst>
          </p:cNvPr>
          <p:cNvSpPr txBox="1">
            <a:spLocks/>
          </p:cNvSpPr>
          <p:nvPr/>
        </p:nvSpPr>
        <p:spPr>
          <a:xfrm>
            <a:off x="218581" y="3499047"/>
            <a:ext cx="1331058" cy="73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Elsie"/>
              <a:buNone/>
              <a:defRPr sz="3500" b="0" i="1" u="none" strike="noStrike" cap="none">
                <a:solidFill>
                  <a:schemeClr val="dk1"/>
                </a:solidFill>
                <a:latin typeface="Elsie"/>
                <a:ea typeface="Elsie"/>
                <a:cs typeface="Elsie"/>
                <a:sym typeface="Elsie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pPr algn="l"/>
            <a:r>
              <a:rPr lang="en-US" sz="1300" i="0" dirty="0"/>
              <a:t>Reduce high dimensionality </a:t>
            </a:r>
          </a:p>
        </p:txBody>
      </p:sp>
      <p:sp>
        <p:nvSpPr>
          <p:cNvPr id="23" name="Google Shape;269;p34">
            <a:extLst>
              <a:ext uri="{FF2B5EF4-FFF2-40B4-BE49-F238E27FC236}">
                <a16:creationId xmlns:a16="http://schemas.microsoft.com/office/drawing/2014/main" id="{564EE250-5AAC-125F-2F98-7301832ADCC1}"/>
              </a:ext>
            </a:extLst>
          </p:cNvPr>
          <p:cNvSpPr txBox="1">
            <a:spLocks/>
          </p:cNvSpPr>
          <p:nvPr/>
        </p:nvSpPr>
        <p:spPr>
          <a:xfrm>
            <a:off x="2237688" y="3332721"/>
            <a:ext cx="1331058" cy="73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Elsie"/>
              <a:buNone/>
              <a:defRPr sz="3500" b="0" i="1" u="none" strike="noStrike" cap="none">
                <a:solidFill>
                  <a:schemeClr val="dk1"/>
                </a:solidFill>
                <a:latin typeface="Elsie"/>
                <a:ea typeface="Elsie"/>
                <a:cs typeface="Elsie"/>
                <a:sym typeface="Elsie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pPr algn="l"/>
            <a:r>
              <a:rPr lang="en-US" sz="1300" i="0" dirty="0"/>
              <a:t>Discover 4 customer segments</a:t>
            </a:r>
          </a:p>
        </p:txBody>
      </p:sp>
      <p:sp>
        <p:nvSpPr>
          <p:cNvPr id="24" name="Google Shape;269;p34">
            <a:extLst>
              <a:ext uri="{FF2B5EF4-FFF2-40B4-BE49-F238E27FC236}">
                <a16:creationId xmlns:a16="http://schemas.microsoft.com/office/drawing/2014/main" id="{7EE47D38-1A37-6BBD-3F4A-C2A91313B4B9}"/>
              </a:ext>
            </a:extLst>
          </p:cNvPr>
          <p:cNvSpPr txBox="1">
            <a:spLocks/>
          </p:cNvSpPr>
          <p:nvPr/>
        </p:nvSpPr>
        <p:spPr>
          <a:xfrm>
            <a:off x="4032463" y="3332721"/>
            <a:ext cx="1331058" cy="73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Elsie"/>
              <a:buNone/>
              <a:defRPr sz="3500" b="0" i="1" u="none" strike="noStrike" cap="none">
                <a:solidFill>
                  <a:schemeClr val="dk1"/>
                </a:solidFill>
                <a:latin typeface="Elsie"/>
                <a:ea typeface="Elsie"/>
                <a:cs typeface="Elsie"/>
                <a:sym typeface="Elsie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pPr algn="l"/>
            <a:r>
              <a:rPr lang="en-US" sz="1300" i="0" dirty="0"/>
              <a:t>Compare treated vs. control inside segments</a:t>
            </a:r>
          </a:p>
        </p:txBody>
      </p:sp>
      <p:sp>
        <p:nvSpPr>
          <p:cNvPr id="25" name="Google Shape;269;p34">
            <a:extLst>
              <a:ext uri="{FF2B5EF4-FFF2-40B4-BE49-F238E27FC236}">
                <a16:creationId xmlns:a16="http://schemas.microsoft.com/office/drawing/2014/main" id="{9FB4EB87-5BE5-0530-5DC0-D89B448DA81B}"/>
              </a:ext>
            </a:extLst>
          </p:cNvPr>
          <p:cNvSpPr txBox="1">
            <a:spLocks/>
          </p:cNvSpPr>
          <p:nvPr/>
        </p:nvSpPr>
        <p:spPr>
          <a:xfrm>
            <a:off x="5750416" y="3418843"/>
            <a:ext cx="1331058" cy="73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Elsie"/>
              <a:buNone/>
              <a:defRPr sz="3500" b="0" i="1" u="none" strike="noStrike" cap="none">
                <a:solidFill>
                  <a:schemeClr val="dk1"/>
                </a:solidFill>
                <a:latin typeface="Elsie"/>
                <a:ea typeface="Elsie"/>
                <a:cs typeface="Elsie"/>
                <a:sym typeface="Elsie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pPr algn="l"/>
            <a:r>
              <a:rPr lang="en-US" sz="1300" i="0" dirty="0"/>
              <a:t>4-class random forest checks stability</a:t>
            </a:r>
          </a:p>
        </p:txBody>
      </p:sp>
      <p:sp>
        <p:nvSpPr>
          <p:cNvPr id="26" name="Google Shape;269;p34">
            <a:extLst>
              <a:ext uri="{FF2B5EF4-FFF2-40B4-BE49-F238E27FC236}">
                <a16:creationId xmlns:a16="http://schemas.microsoft.com/office/drawing/2014/main" id="{CDEE4109-CCF4-32F3-8201-F55C8B9F0A0C}"/>
              </a:ext>
            </a:extLst>
          </p:cNvPr>
          <p:cNvSpPr txBox="1">
            <a:spLocks/>
          </p:cNvSpPr>
          <p:nvPr/>
        </p:nvSpPr>
        <p:spPr>
          <a:xfrm>
            <a:off x="7616837" y="3332721"/>
            <a:ext cx="1331058" cy="73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Elsie"/>
              <a:buNone/>
              <a:defRPr sz="3500" b="0" i="1" u="none" strike="noStrike" cap="none">
                <a:solidFill>
                  <a:schemeClr val="dk1"/>
                </a:solidFill>
                <a:latin typeface="Elsie"/>
                <a:ea typeface="Elsie"/>
                <a:cs typeface="Elsie"/>
                <a:sym typeface="Elsie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pPr algn="l"/>
            <a:r>
              <a:rPr lang="en-US" sz="1300" i="0" dirty="0"/>
              <a:t>Binary model for </a:t>
            </a:r>
            <a:r>
              <a:rPr lang="en-US" sz="1300" i="0" dirty="0" err="1"/>
              <a:t>persuadables</a:t>
            </a:r>
            <a:endParaRPr lang="en-US" sz="1300" i="0" dirty="0"/>
          </a:p>
        </p:txBody>
      </p:sp>
      <p:sp>
        <p:nvSpPr>
          <p:cNvPr id="27" name="Google Shape;269;p34">
            <a:extLst>
              <a:ext uri="{FF2B5EF4-FFF2-40B4-BE49-F238E27FC236}">
                <a16:creationId xmlns:a16="http://schemas.microsoft.com/office/drawing/2014/main" id="{60EC079E-DEB0-F2AD-BDE0-CF91A934E12E}"/>
              </a:ext>
            </a:extLst>
          </p:cNvPr>
          <p:cNvSpPr txBox="1">
            <a:spLocks/>
          </p:cNvSpPr>
          <p:nvPr/>
        </p:nvSpPr>
        <p:spPr>
          <a:xfrm>
            <a:off x="1307911" y="4583038"/>
            <a:ext cx="6528178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Elsie"/>
              <a:buNone/>
              <a:defRPr sz="3500" b="0" i="1" u="none" strike="noStrike" cap="none">
                <a:solidFill>
                  <a:schemeClr val="dk1"/>
                </a:solidFill>
                <a:latin typeface="Elsie"/>
                <a:ea typeface="Elsie"/>
                <a:cs typeface="Elsie"/>
                <a:sym typeface="Elsie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r>
              <a:rPr lang="en-US" sz="1600" dirty="0"/>
              <a:t>* Focus is on Incremental lift, not just visit tendency!</a:t>
            </a:r>
          </a:p>
        </p:txBody>
      </p:sp>
    </p:spTree>
    <p:extLst>
      <p:ext uri="{BB962C8B-B14F-4D97-AF65-F5344CB8AC3E}">
        <p14:creationId xmlns:p14="http://schemas.microsoft.com/office/powerpoint/2010/main" val="300095824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82">
          <a:extLst>
            <a:ext uri="{FF2B5EF4-FFF2-40B4-BE49-F238E27FC236}">
              <a16:creationId xmlns:a16="http://schemas.microsoft.com/office/drawing/2014/main" id="{B8B58CA4-3F1D-25F4-15F4-6428812288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" name="Google Shape;283;p35">
            <a:extLst>
              <a:ext uri="{FF2B5EF4-FFF2-40B4-BE49-F238E27FC236}">
                <a16:creationId xmlns:a16="http://schemas.microsoft.com/office/drawing/2014/main" id="{6B8F1006-2569-9E4F-2BD7-06F04BF4ADF1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89781" y="282165"/>
            <a:ext cx="8764438" cy="677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500" dirty="0"/>
              <a:t>Behavior-based Segmentation </a:t>
            </a:r>
            <a:endParaRPr sz="3500" dirty="0"/>
          </a:p>
        </p:txBody>
      </p:sp>
      <p:grpSp>
        <p:nvGrpSpPr>
          <p:cNvPr id="286" name="Google Shape;286;p35">
            <a:extLst>
              <a:ext uri="{FF2B5EF4-FFF2-40B4-BE49-F238E27FC236}">
                <a16:creationId xmlns:a16="http://schemas.microsoft.com/office/drawing/2014/main" id="{3519AECA-649B-E6F8-BC49-E226F5DFB852}"/>
              </a:ext>
            </a:extLst>
          </p:cNvPr>
          <p:cNvGrpSpPr/>
          <p:nvPr/>
        </p:nvGrpSpPr>
        <p:grpSpPr>
          <a:xfrm>
            <a:off x="2802750" y="256607"/>
            <a:ext cx="3445675" cy="197700"/>
            <a:chOff x="2659300" y="2970747"/>
            <a:chExt cx="3445675" cy="197700"/>
          </a:xfrm>
        </p:grpSpPr>
        <p:sp>
          <p:nvSpPr>
            <p:cNvPr id="287" name="Google Shape;287;p35">
              <a:extLst>
                <a:ext uri="{FF2B5EF4-FFF2-40B4-BE49-F238E27FC236}">
                  <a16:creationId xmlns:a16="http://schemas.microsoft.com/office/drawing/2014/main" id="{94152CDA-B45A-CFEE-452E-D3F5C113C0D0}"/>
                </a:ext>
              </a:extLst>
            </p:cNvPr>
            <p:cNvSpPr/>
            <p:nvPr/>
          </p:nvSpPr>
          <p:spPr>
            <a:xfrm>
              <a:off x="4329709" y="2970747"/>
              <a:ext cx="197700" cy="197700"/>
            </a:xfrm>
            <a:prstGeom prst="plaque">
              <a:avLst>
                <a:gd name="adj" fmla="val 50000"/>
              </a:avLst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cxnSp>
          <p:nvCxnSpPr>
            <p:cNvPr id="288" name="Google Shape;288;p35">
              <a:extLst>
                <a:ext uri="{FF2B5EF4-FFF2-40B4-BE49-F238E27FC236}">
                  <a16:creationId xmlns:a16="http://schemas.microsoft.com/office/drawing/2014/main" id="{95CC762D-3A52-6B48-7E3F-C27A1C304434}"/>
                </a:ext>
              </a:extLst>
            </p:cNvPr>
            <p:cNvCxnSpPr/>
            <p:nvPr/>
          </p:nvCxnSpPr>
          <p:spPr>
            <a:xfrm>
              <a:off x="2659300" y="3069594"/>
              <a:ext cx="1521300" cy="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89" name="Google Shape;289;p35">
              <a:extLst>
                <a:ext uri="{FF2B5EF4-FFF2-40B4-BE49-F238E27FC236}">
                  <a16:creationId xmlns:a16="http://schemas.microsoft.com/office/drawing/2014/main" id="{506BF5C3-B3CD-1E5C-9C23-514353B7D655}"/>
                </a:ext>
              </a:extLst>
            </p:cNvPr>
            <p:cNvCxnSpPr/>
            <p:nvPr/>
          </p:nvCxnSpPr>
          <p:spPr>
            <a:xfrm>
              <a:off x="4676375" y="3069600"/>
              <a:ext cx="1428600" cy="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pic>
        <p:nvPicPr>
          <p:cNvPr id="9" name="Picture 8" descr="A graph with colored lines and x marks&#10;&#10;AI-generated content may be incorrect.">
            <a:extLst>
              <a:ext uri="{FF2B5EF4-FFF2-40B4-BE49-F238E27FC236}">
                <a16:creationId xmlns:a16="http://schemas.microsoft.com/office/drawing/2014/main" id="{689D9917-20BC-2DD8-3D0F-6393A67F517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798967"/>
            <a:ext cx="5399510" cy="3017554"/>
          </a:xfrm>
          <a:prstGeom prst="rect">
            <a:avLst/>
          </a:prstGeom>
        </p:spPr>
      </p:pic>
      <p:pic>
        <p:nvPicPr>
          <p:cNvPr id="11" name="Picture 10" descr="A graph with a line and a point&#10;&#10;AI-generated content may be incorrect.">
            <a:extLst>
              <a:ext uri="{FF2B5EF4-FFF2-40B4-BE49-F238E27FC236}">
                <a16:creationId xmlns:a16="http://schemas.microsoft.com/office/drawing/2014/main" id="{1457DFEB-BD18-E3C4-68CF-3A5F0E6DAFE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99510" y="1338143"/>
            <a:ext cx="3744490" cy="2050286"/>
          </a:xfrm>
          <a:prstGeom prst="rect">
            <a:avLst/>
          </a:prstGeom>
        </p:spPr>
      </p:pic>
      <p:sp>
        <p:nvSpPr>
          <p:cNvPr id="12" name="Google Shape;269;p34">
            <a:extLst>
              <a:ext uri="{FF2B5EF4-FFF2-40B4-BE49-F238E27FC236}">
                <a16:creationId xmlns:a16="http://schemas.microsoft.com/office/drawing/2014/main" id="{059E8064-60AB-BBD3-51A7-C052B0A32CE7}"/>
              </a:ext>
            </a:extLst>
          </p:cNvPr>
          <p:cNvSpPr txBox="1">
            <a:spLocks/>
          </p:cNvSpPr>
          <p:nvPr/>
        </p:nvSpPr>
        <p:spPr>
          <a:xfrm>
            <a:off x="189781" y="3566815"/>
            <a:ext cx="1966823" cy="4994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Elsie"/>
              <a:buNone/>
              <a:defRPr sz="3500" b="0" i="1" u="none" strike="noStrike" cap="none">
                <a:solidFill>
                  <a:schemeClr val="dk1"/>
                </a:solidFill>
                <a:latin typeface="Elsie"/>
                <a:ea typeface="Elsie"/>
                <a:cs typeface="Elsie"/>
                <a:sym typeface="Elsie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pPr algn="l"/>
            <a:r>
              <a:rPr lang="en-US" sz="2000" dirty="0"/>
              <a:t>Interpretation:</a:t>
            </a:r>
          </a:p>
        </p:txBody>
      </p:sp>
      <p:sp>
        <p:nvSpPr>
          <p:cNvPr id="13" name="Google Shape;269;p34">
            <a:extLst>
              <a:ext uri="{FF2B5EF4-FFF2-40B4-BE49-F238E27FC236}">
                <a16:creationId xmlns:a16="http://schemas.microsoft.com/office/drawing/2014/main" id="{706133CF-701F-C9FF-9AFB-3AE81062802A}"/>
              </a:ext>
            </a:extLst>
          </p:cNvPr>
          <p:cNvSpPr txBox="1">
            <a:spLocks/>
          </p:cNvSpPr>
          <p:nvPr/>
        </p:nvSpPr>
        <p:spPr>
          <a:xfrm>
            <a:off x="206408" y="3992833"/>
            <a:ext cx="9226833" cy="11506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Elsie"/>
              <a:buNone/>
              <a:defRPr sz="3500" b="0" i="1" u="none" strike="noStrike" cap="none">
                <a:solidFill>
                  <a:schemeClr val="dk1"/>
                </a:solidFill>
                <a:latin typeface="Elsie"/>
                <a:ea typeface="Elsie"/>
                <a:cs typeface="Elsie"/>
                <a:sym typeface="Elsie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pPr algn="l"/>
            <a:r>
              <a:rPr lang="en-US" sz="1600" i="0" dirty="0"/>
              <a:t>PC1 captures the largest share of variance, with diminishing returns from later components. </a:t>
            </a:r>
          </a:p>
          <a:p>
            <a:pPr algn="l"/>
            <a:r>
              <a:rPr lang="en-US" sz="1600" i="0" dirty="0"/>
              <a:t>Cluster boundaries are strongest along a gradient of behavior intensity, rather than sharp demographic splits.</a:t>
            </a:r>
          </a:p>
        </p:txBody>
      </p:sp>
    </p:spTree>
    <p:extLst>
      <p:ext uri="{BB962C8B-B14F-4D97-AF65-F5344CB8AC3E}">
        <p14:creationId xmlns:p14="http://schemas.microsoft.com/office/powerpoint/2010/main" val="22040058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82">
          <a:extLst>
            <a:ext uri="{FF2B5EF4-FFF2-40B4-BE49-F238E27FC236}">
              <a16:creationId xmlns:a16="http://schemas.microsoft.com/office/drawing/2014/main" id="{4F7F3979-EE16-16C3-2C93-04ACA9D916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" name="Google Shape;283;p35">
            <a:extLst>
              <a:ext uri="{FF2B5EF4-FFF2-40B4-BE49-F238E27FC236}">
                <a16:creationId xmlns:a16="http://schemas.microsoft.com/office/drawing/2014/main" id="{D3202B22-8FD7-F529-CD98-404DF2F84B79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89781" y="282165"/>
            <a:ext cx="8764438" cy="677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500" dirty="0"/>
              <a:t>Visuals of the Four Segments:</a:t>
            </a:r>
            <a:endParaRPr sz="3500" dirty="0"/>
          </a:p>
        </p:txBody>
      </p:sp>
      <p:grpSp>
        <p:nvGrpSpPr>
          <p:cNvPr id="286" name="Google Shape;286;p35">
            <a:extLst>
              <a:ext uri="{FF2B5EF4-FFF2-40B4-BE49-F238E27FC236}">
                <a16:creationId xmlns:a16="http://schemas.microsoft.com/office/drawing/2014/main" id="{F4E2E261-8C28-AA7E-0C5A-F279860B356F}"/>
              </a:ext>
            </a:extLst>
          </p:cNvPr>
          <p:cNvGrpSpPr/>
          <p:nvPr/>
        </p:nvGrpSpPr>
        <p:grpSpPr>
          <a:xfrm>
            <a:off x="2802750" y="256607"/>
            <a:ext cx="3445675" cy="197700"/>
            <a:chOff x="2659300" y="2970747"/>
            <a:chExt cx="3445675" cy="197700"/>
          </a:xfrm>
        </p:grpSpPr>
        <p:sp>
          <p:nvSpPr>
            <p:cNvPr id="287" name="Google Shape;287;p35">
              <a:extLst>
                <a:ext uri="{FF2B5EF4-FFF2-40B4-BE49-F238E27FC236}">
                  <a16:creationId xmlns:a16="http://schemas.microsoft.com/office/drawing/2014/main" id="{90F14E49-C0D7-59B8-8E02-AC906BE1D49F}"/>
                </a:ext>
              </a:extLst>
            </p:cNvPr>
            <p:cNvSpPr/>
            <p:nvPr/>
          </p:nvSpPr>
          <p:spPr>
            <a:xfrm>
              <a:off x="4329709" y="2970747"/>
              <a:ext cx="197700" cy="197700"/>
            </a:xfrm>
            <a:prstGeom prst="plaque">
              <a:avLst>
                <a:gd name="adj" fmla="val 50000"/>
              </a:avLst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cxnSp>
          <p:nvCxnSpPr>
            <p:cNvPr id="288" name="Google Shape;288;p35">
              <a:extLst>
                <a:ext uri="{FF2B5EF4-FFF2-40B4-BE49-F238E27FC236}">
                  <a16:creationId xmlns:a16="http://schemas.microsoft.com/office/drawing/2014/main" id="{0456E761-5384-E1DD-D66F-AED0E354AA45}"/>
                </a:ext>
              </a:extLst>
            </p:cNvPr>
            <p:cNvCxnSpPr/>
            <p:nvPr/>
          </p:nvCxnSpPr>
          <p:spPr>
            <a:xfrm>
              <a:off x="2659300" y="3069594"/>
              <a:ext cx="1521300" cy="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89" name="Google Shape;289;p35">
              <a:extLst>
                <a:ext uri="{FF2B5EF4-FFF2-40B4-BE49-F238E27FC236}">
                  <a16:creationId xmlns:a16="http://schemas.microsoft.com/office/drawing/2014/main" id="{A223748E-8EA8-EAAE-8978-4F44DDB5E521}"/>
                </a:ext>
              </a:extLst>
            </p:cNvPr>
            <p:cNvCxnSpPr/>
            <p:nvPr/>
          </p:nvCxnSpPr>
          <p:spPr>
            <a:xfrm>
              <a:off x="4676375" y="3069600"/>
              <a:ext cx="1428600" cy="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sp>
        <p:nvSpPr>
          <p:cNvPr id="12" name="Google Shape;269;p34">
            <a:extLst>
              <a:ext uri="{FF2B5EF4-FFF2-40B4-BE49-F238E27FC236}">
                <a16:creationId xmlns:a16="http://schemas.microsoft.com/office/drawing/2014/main" id="{ADDDAF18-4334-EF78-9CD9-9906DF95B52F}"/>
              </a:ext>
            </a:extLst>
          </p:cNvPr>
          <p:cNvSpPr txBox="1">
            <a:spLocks/>
          </p:cNvSpPr>
          <p:nvPr/>
        </p:nvSpPr>
        <p:spPr>
          <a:xfrm>
            <a:off x="189781" y="3566815"/>
            <a:ext cx="1966823" cy="4994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Elsie"/>
              <a:buNone/>
              <a:defRPr sz="3500" b="0" i="1" u="none" strike="noStrike" cap="none">
                <a:solidFill>
                  <a:schemeClr val="dk1"/>
                </a:solidFill>
                <a:latin typeface="Elsie"/>
                <a:ea typeface="Elsie"/>
                <a:cs typeface="Elsie"/>
                <a:sym typeface="Elsie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pPr algn="l"/>
            <a:r>
              <a:rPr lang="en-US" sz="2000" dirty="0"/>
              <a:t>Interpretation:</a:t>
            </a:r>
          </a:p>
        </p:txBody>
      </p:sp>
      <p:sp>
        <p:nvSpPr>
          <p:cNvPr id="13" name="Google Shape;269;p34">
            <a:extLst>
              <a:ext uri="{FF2B5EF4-FFF2-40B4-BE49-F238E27FC236}">
                <a16:creationId xmlns:a16="http://schemas.microsoft.com/office/drawing/2014/main" id="{11D3784A-FA34-B350-691E-5D212034D2A7}"/>
              </a:ext>
            </a:extLst>
          </p:cNvPr>
          <p:cNvSpPr txBox="1">
            <a:spLocks/>
          </p:cNvSpPr>
          <p:nvPr/>
        </p:nvSpPr>
        <p:spPr>
          <a:xfrm>
            <a:off x="189781" y="3851725"/>
            <a:ext cx="9226833" cy="11506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Elsie"/>
              <a:buNone/>
              <a:defRPr sz="3500" b="0" i="1" u="none" strike="noStrike" cap="none">
                <a:solidFill>
                  <a:schemeClr val="dk1"/>
                </a:solidFill>
                <a:latin typeface="Elsie"/>
                <a:ea typeface="Elsie"/>
                <a:cs typeface="Elsie"/>
                <a:sym typeface="Elsie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pPr algn="l"/>
            <a:r>
              <a:rPr lang="en-US" sz="1600" i="0" dirty="0"/>
              <a:t>Seg. 1: Strongest Spending and receipt activity  </a:t>
            </a:r>
          </a:p>
          <a:p>
            <a:pPr algn="l"/>
            <a:r>
              <a:rPr lang="en-US" sz="1600" i="0" dirty="0"/>
              <a:t>Seg. 2: Still highly engaged, but below segment 1 baseline intensity</a:t>
            </a:r>
          </a:p>
          <a:p>
            <a:pPr algn="l"/>
            <a:r>
              <a:rPr lang="en-US" sz="1600" i="0" dirty="0"/>
              <a:t>Seg. 3: Moderate engagement and moderate activity</a:t>
            </a:r>
          </a:p>
          <a:p>
            <a:pPr algn="l"/>
            <a:r>
              <a:rPr lang="en-US" sz="1600" i="0" dirty="0"/>
              <a:t>Seg. 4: Largest group, but weakest overall shopping intensity</a:t>
            </a:r>
          </a:p>
        </p:txBody>
      </p:sp>
      <p:pic>
        <p:nvPicPr>
          <p:cNvPr id="3" name="Picture 2" descr="A graph with different colored squares&#10;&#10;AI-generated content may be incorrect.">
            <a:extLst>
              <a:ext uri="{FF2B5EF4-FFF2-40B4-BE49-F238E27FC236}">
                <a16:creationId xmlns:a16="http://schemas.microsoft.com/office/drawing/2014/main" id="{4894FCB1-7360-E3F8-1CB4-4C383F0C1A0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61117" y="919363"/>
            <a:ext cx="5382884" cy="3045273"/>
          </a:xfrm>
          <a:prstGeom prst="rect">
            <a:avLst/>
          </a:prstGeom>
        </p:spPr>
      </p:pic>
      <p:pic>
        <p:nvPicPr>
          <p:cNvPr id="5" name="Picture 4" descr="A graph with different colored bars&#10;&#10;AI-generated content may be incorrect.">
            <a:extLst>
              <a:ext uri="{FF2B5EF4-FFF2-40B4-BE49-F238E27FC236}">
                <a16:creationId xmlns:a16="http://schemas.microsoft.com/office/drawing/2014/main" id="{61C17772-D03F-F2B0-B3EB-1E2AE36C86D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-5585" y="1544537"/>
            <a:ext cx="3617323" cy="18843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5570928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82">
          <a:extLst>
            <a:ext uri="{FF2B5EF4-FFF2-40B4-BE49-F238E27FC236}">
              <a16:creationId xmlns:a16="http://schemas.microsoft.com/office/drawing/2014/main" id="{2CE6E4D3-BA1C-E886-EBFF-3E520055DE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" name="Google Shape;283;p35">
            <a:extLst>
              <a:ext uri="{FF2B5EF4-FFF2-40B4-BE49-F238E27FC236}">
                <a16:creationId xmlns:a16="http://schemas.microsoft.com/office/drawing/2014/main" id="{4FCACB31-83DD-FF76-86FE-CFACD9624E43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89781" y="282165"/>
            <a:ext cx="8764438" cy="677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500" dirty="0"/>
              <a:t>Decision Metric = Uplift </a:t>
            </a:r>
            <a:endParaRPr sz="3500" dirty="0"/>
          </a:p>
        </p:txBody>
      </p:sp>
      <p:grpSp>
        <p:nvGrpSpPr>
          <p:cNvPr id="286" name="Google Shape;286;p35">
            <a:extLst>
              <a:ext uri="{FF2B5EF4-FFF2-40B4-BE49-F238E27FC236}">
                <a16:creationId xmlns:a16="http://schemas.microsoft.com/office/drawing/2014/main" id="{22C1131F-2B39-A55C-6FB6-BC7E3012FB16}"/>
              </a:ext>
            </a:extLst>
          </p:cNvPr>
          <p:cNvGrpSpPr/>
          <p:nvPr/>
        </p:nvGrpSpPr>
        <p:grpSpPr>
          <a:xfrm>
            <a:off x="2802750" y="256607"/>
            <a:ext cx="3445675" cy="197700"/>
            <a:chOff x="2659300" y="2970747"/>
            <a:chExt cx="3445675" cy="197700"/>
          </a:xfrm>
        </p:grpSpPr>
        <p:sp>
          <p:nvSpPr>
            <p:cNvPr id="287" name="Google Shape;287;p35">
              <a:extLst>
                <a:ext uri="{FF2B5EF4-FFF2-40B4-BE49-F238E27FC236}">
                  <a16:creationId xmlns:a16="http://schemas.microsoft.com/office/drawing/2014/main" id="{74EA9F4C-8751-196C-4CAB-E2F980176B59}"/>
                </a:ext>
              </a:extLst>
            </p:cNvPr>
            <p:cNvSpPr/>
            <p:nvPr/>
          </p:nvSpPr>
          <p:spPr>
            <a:xfrm>
              <a:off x="4329709" y="2970747"/>
              <a:ext cx="197700" cy="197700"/>
            </a:xfrm>
            <a:prstGeom prst="plaque">
              <a:avLst>
                <a:gd name="adj" fmla="val 50000"/>
              </a:avLst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cxnSp>
          <p:nvCxnSpPr>
            <p:cNvPr id="288" name="Google Shape;288;p35">
              <a:extLst>
                <a:ext uri="{FF2B5EF4-FFF2-40B4-BE49-F238E27FC236}">
                  <a16:creationId xmlns:a16="http://schemas.microsoft.com/office/drawing/2014/main" id="{F2BD8D34-0E3E-68AF-7FF8-2EDB21EE1EA9}"/>
                </a:ext>
              </a:extLst>
            </p:cNvPr>
            <p:cNvCxnSpPr/>
            <p:nvPr/>
          </p:nvCxnSpPr>
          <p:spPr>
            <a:xfrm>
              <a:off x="2659300" y="3069594"/>
              <a:ext cx="1521300" cy="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89" name="Google Shape;289;p35">
              <a:extLst>
                <a:ext uri="{FF2B5EF4-FFF2-40B4-BE49-F238E27FC236}">
                  <a16:creationId xmlns:a16="http://schemas.microsoft.com/office/drawing/2014/main" id="{1404AF70-2808-B830-AC31-EA568B8041FE}"/>
                </a:ext>
              </a:extLst>
            </p:cNvPr>
            <p:cNvCxnSpPr/>
            <p:nvPr/>
          </p:nvCxnSpPr>
          <p:spPr>
            <a:xfrm>
              <a:off x="4676375" y="3069600"/>
              <a:ext cx="1428600" cy="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pic>
        <p:nvPicPr>
          <p:cNvPr id="4" name="Picture 3" descr="A graph of a graph showing a number of different colored bars&#10;&#10;AI-generated content may be incorrect.">
            <a:extLst>
              <a:ext uri="{FF2B5EF4-FFF2-40B4-BE49-F238E27FC236}">
                <a16:creationId xmlns:a16="http://schemas.microsoft.com/office/drawing/2014/main" id="{8BF399E7-1009-ED2A-45C0-DE6036C319A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106200"/>
            <a:ext cx="4713301" cy="2760041"/>
          </a:xfrm>
          <a:prstGeom prst="rect">
            <a:avLst/>
          </a:prstGeom>
        </p:spPr>
      </p:pic>
      <p:pic>
        <p:nvPicPr>
          <p:cNvPr id="7" name="Picture 6" descr="A graph of a bar chart&#10;&#10;AI-generated content may be incorrect.">
            <a:extLst>
              <a:ext uri="{FF2B5EF4-FFF2-40B4-BE49-F238E27FC236}">
                <a16:creationId xmlns:a16="http://schemas.microsoft.com/office/drawing/2014/main" id="{AC0AD6EA-1DCD-CBBD-6AFA-F0B077C8739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56260" y="1329618"/>
            <a:ext cx="4587740" cy="2418210"/>
          </a:xfrm>
          <a:prstGeom prst="rect">
            <a:avLst/>
          </a:prstGeom>
        </p:spPr>
      </p:pic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29B22C00-9BE6-A690-A124-5EBF1FE0DCC5}"/>
              </a:ext>
            </a:extLst>
          </p:cNvPr>
          <p:cNvSpPr/>
          <p:nvPr/>
        </p:nvSpPr>
        <p:spPr>
          <a:xfrm>
            <a:off x="465826" y="4015454"/>
            <a:ext cx="1431985" cy="603849"/>
          </a:xfrm>
          <a:prstGeom prst="roundRect">
            <a:avLst/>
          </a:prstGeom>
          <a:solidFill>
            <a:srgbClr val="EAF3FB"/>
          </a:solidFill>
          <a:ln>
            <a:solidFill>
              <a:srgbClr val="437BB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8D87C601-7033-AB6A-2AC2-C959B774628F}"/>
              </a:ext>
            </a:extLst>
          </p:cNvPr>
          <p:cNvSpPr/>
          <p:nvPr/>
        </p:nvSpPr>
        <p:spPr>
          <a:xfrm>
            <a:off x="2681979" y="4015453"/>
            <a:ext cx="1431985" cy="603849"/>
          </a:xfrm>
          <a:prstGeom prst="roundRect">
            <a:avLst/>
          </a:prstGeom>
          <a:solidFill>
            <a:srgbClr val="F5F9EA"/>
          </a:solidFill>
          <a:ln>
            <a:solidFill>
              <a:srgbClr val="8CC01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ounded Rectangle 9">
            <a:extLst>
              <a:ext uri="{FF2B5EF4-FFF2-40B4-BE49-F238E27FC236}">
                <a16:creationId xmlns:a16="http://schemas.microsoft.com/office/drawing/2014/main" id="{1998A50F-6651-A49F-D981-0BED394613B8}"/>
              </a:ext>
            </a:extLst>
          </p:cNvPr>
          <p:cNvSpPr/>
          <p:nvPr/>
        </p:nvSpPr>
        <p:spPr>
          <a:xfrm>
            <a:off x="7211683" y="4015452"/>
            <a:ext cx="1431985" cy="603849"/>
          </a:xfrm>
          <a:prstGeom prst="roundRect">
            <a:avLst/>
          </a:prstGeom>
          <a:solidFill>
            <a:srgbClr val="EFE0DF"/>
          </a:solidFill>
          <a:ln>
            <a:solidFill>
              <a:srgbClr val="DE636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ounded Rectangle 10">
            <a:extLst>
              <a:ext uri="{FF2B5EF4-FFF2-40B4-BE49-F238E27FC236}">
                <a16:creationId xmlns:a16="http://schemas.microsoft.com/office/drawing/2014/main" id="{50A84C6D-904C-61A3-A372-A221F5B7AEEE}"/>
              </a:ext>
            </a:extLst>
          </p:cNvPr>
          <p:cNvSpPr/>
          <p:nvPr/>
        </p:nvSpPr>
        <p:spPr>
          <a:xfrm>
            <a:off x="4995532" y="4018329"/>
            <a:ext cx="1431985" cy="603849"/>
          </a:xfrm>
          <a:prstGeom prst="roundRect">
            <a:avLst/>
          </a:prstGeom>
          <a:solidFill>
            <a:srgbClr val="FEF6E8"/>
          </a:solidFill>
          <a:ln>
            <a:solidFill>
              <a:srgbClr val="F4993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Google Shape;269;p34">
            <a:extLst>
              <a:ext uri="{FF2B5EF4-FFF2-40B4-BE49-F238E27FC236}">
                <a16:creationId xmlns:a16="http://schemas.microsoft.com/office/drawing/2014/main" id="{1C0CDE50-60BC-673D-015B-E9A8BD7EFE6E}"/>
              </a:ext>
            </a:extLst>
          </p:cNvPr>
          <p:cNvSpPr txBox="1">
            <a:spLocks/>
          </p:cNvSpPr>
          <p:nvPr/>
        </p:nvSpPr>
        <p:spPr>
          <a:xfrm>
            <a:off x="603594" y="3962532"/>
            <a:ext cx="1091734" cy="354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Elsie"/>
              <a:buNone/>
              <a:defRPr sz="3500" b="0" i="1" u="none" strike="noStrike" cap="none">
                <a:solidFill>
                  <a:schemeClr val="dk1"/>
                </a:solidFill>
                <a:latin typeface="Elsie"/>
                <a:ea typeface="Elsie"/>
                <a:cs typeface="Elsie"/>
                <a:sym typeface="Elsie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pPr algn="l"/>
            <a:r>
              <a:rPr lang="en-US" sz="1500" dirty="0"/>
              <a:t>Segment 2:</a:t>
            </a:r>
          </a:p>
        </p:txBody>
      </p:sp>
      <p:sp>
        <p:nvSpPr>
          <p:cNvPr id="15" name="Google Shape;269;p34">
            <a:extLst>
              <a:ext uri="{FF2B5EF4-FFF2-40B4-BE49-F238E27FC236}">
                <a16:creationId xmlns:a16="http://schemas.microsoft.com/office/drawing/2014/main" id="{96750632-CF0F-E38E-4A05-72D4B35984DB}"/>
              </a:ext>
            </a:extLst>
          </p:cNvPr>
          <p:cNvSpPr txBox="1">
            <a:spLocks/>
          </p:cNvSpPr>
          <p:nvPr/>
        </p:nvSpPr>
        <p:spPr>
          <a:xfrm>
            <a:off x="895448" y="4264457"/>
            <a:ext cx="730448" cy="354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Elsie"/>
              <a:buNone/>
              <a:defRPr sz="3500" b="0" i="1" u="none" strike="noStrike" cap="none">
                <a:solidFill>
                  <a:schemeClr val="dk1"/>
                </a:solidFill>
                <a:latin typeface="Elsie"/>
                <a:ea typeface="Elsie"/>
                <a:cs typeface="Elsie"/>
                <a:sym typeface="Elsie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pPr algn="l"/>
            <a:r>
              <a:rPr lang="en-US" sz="1300" i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0.80 %</a:t>
            </a:r>
          </a:p>
        </p:txBody>
      </p:sp>
      <p:sp>
        <p:nvSpPr>
          <p:cNvPr id="16" name="Google Shape;269;p34">
            <a:extLst>
              <a:ext uri="{FF2B5EF4-FFF2-40B4-BE49-F238E27FC236}">
                <a16:creationId xmlns:a16="http://schemas.microsoft.com/office/drawing/2014/main" id="{5F77A9E3-C763-AF51-E52C-9127BD0DE249}"/>
              </a:ext>
            </a:extLst>
          </p:cNvPr>
          <p:cNvSpPr txBox="1">
            <a:spLocks/>
          </p:cNvSpPr>
          <p:nvPr/>
        </p:nvSpPr>
        <p:spPr>
          <a:xfrm>
            <a:off x="2868446" y="3962532"/>
            <a:ext cx="1091734" cy="354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Elsie"/>
              <a:buNone/>
              <a:defRPr sz="3500" b="0" i="1" u="none" strike="noStrike" cap="none">
                <a:solidFill>
                  <a:schemeClr val="dk1"/>
                </a:solidFill>
                <a:latin typeface="Elsie"/>
                <a:ea typeface="Elsie"/>
                <a:cs typeface="Elsie"/>
                <a:sym typeface="Elsie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pPr algn="l"/>
            <a:r>
              <a:rPr lang="en-US" sz="1500" dirty="0"/>
              <a:t>Segment 3:</a:t>
            </a:r>
          </a:p>
        </p:txBody>
      </p:sp>
      <p:sp>
        <p:nvSpPr>
          <p:cNvPr id="17" name="Google Shape;269;p34">
            <a:extLst>
              <a:ext uri="{FF2B5EF4-FFF2-40B4-BE49-F238E27FC236}">
                <a16:creationId xmlns:a16="http://schemas.microsoft.com/office/drawing/2014/main" id="{FF35AEA3-B4B2-02CF-ED4A-0FF4E3B63E12}"/>
              </a:ext>
            </a:extLst>
          </p:cNvPr>
          <p:cNvSpPr txBox="1">
            <a:spLocks/>
          </p:cNvSpPr>
          <p:nvPr/>
        </p:nvSpPr>
        <p:spPr>
          <a:xfrm>
            <a:off x="3119535" y="4272359"/>
            <a:ext cx="730448" cy="354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Elsie"/>
              <a:buNone/>
              <a:defRPr sz="3500" b="0" i="1" u="none" strike="noStrike" cap="none">
                <a:solidFill>
                  <a:schemeClr val="dk1"/>
                </a:solidFill>
                <a:latin typeface="Elsie"/>
                <a:ea typeface="Elsie"/>
                <a:cs typeface="Elsie"/>
                <a:sym typeface="Elsie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pPr algn="l"/>
            <a:r>
              <a:rPr lang="en-US" sz="1300" i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0.59 %</a:t>
            </a:r>
          </a:p>
        </p:txBody>
      </p:sp>
      <p:sp>
        <p:nvSpPr>
          <p:cNvPr id="18" name="Google Shape;269;p34">
            <a:extLst>
              <a:ext uri="{FF2B5EF4-FFF2-40B4-BE49-F238E27FC236}">
                <a16:creationId xmlns:a16="http://schemas.microsoft.com/office/drawing/2014/main" id="{AF774D0A-A8F4-BAC2-C143-B0CF5EEEB648}"/>
              </a:ext>
            </a:extLst>
          </p:cNvPr>
          <p:cNvSpPr txBox="1">
            <a:spLocks/>
          </p:cNvSpPr>
          <p:nvPr/>
        </p:nvSpPr>
        <p:spPr>
          <a:xfrm>
            <a:off x="5133298" y="3972938"/>
            <a:ext cx="1091734" cy="354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Elsie"/>
              <a:buNone/>
              <a:defRPr sz="3500" b="0" i="1" u="none" strike="noStrike" cap="none">
                <a:solidFill>
                  <a:schemeClr val="dk1"/>
                </a:solidFill>
                <a:latin typeface="Elsie"/>
                <a:ea typeface="Elsie"/>
                <a:cs typeface="Elsie"/>
                <a:sym typeface="Elsie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pPr algn="l"/>
            <a:r>
              <a:rPr lang="en-US" sz="1500" dirty="0"/>
              <a:t>Segment 1:</a:t>
            </a:r>
          </a:p>
        </p:txBody>
      </p:sp>
      <p:sp>
        <p:nvSpPr>
          <p:cNvPr id="19" name="Google Shape;269;p34">
            <a:extLst>
              <a:ext uri="{FF2B5EF4-FFF2-40B4-BE49-F238E27FC236}">
                <a16:creationId xmlns:a16="http://schemas.microsoft.com/office/drawing/2014/main" id="{8BD940BB-6BB2-2212-BE7A-F0561961BACE}"/>
              </a:ext>
            </a:extLst>
          </p:cNvPr>
          <p:cNvSpPr txBox="1">
            <a:spLocks/>
          </p:cNvSpPr>
          <p:nvPr/>
        </p:nvSpPr>
        <p:spPr>
          <a:xfrm>
            <a:off x="5414399" y="4264457"/>
            <a:ext cx="730448" cy="354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Elsie"/>
              <a:buNone/>
              <a:defRPr sz="3500" b="0" i="1" u="none" strike="noStrike" cap="none">
                <a:solidFill>
                  <a:schemeClr val="dk1"/>
                </a:solidFill>
                <a:latin typeface="Elsie"/>
                <a:ea typeface="Elsie"/>
                <a:cs typeface="Elsie"/>
                <a:sym typeface="Elsie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pPr algn="l"/>
            <a:r>
              <a:rPr lang="en-US" sz="1300" i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0.51%</a:t>
            </a:r>
          </a:p>
        </p:txBody>
      </p:sp>
      <p:sp>
        <p:nvSpPr>
          <p:cNvPr id="20" name="Google Shape;269;p34">
            <a:extLst>
              <a:ext uri="{FF2B5EF4-FFF2-40B4-BE49-F238E27FC236}">
                <a16:creationId xmlns:a16="http://schemas.microsoft.com/office/drawing/2014/main" id="{F29DD93A-785B-5C9D-6471-17E3491D0FB9}"/>
              </a:ext>
            </a:extLst>
          </p:cNvPr>
          <p:cNvSpPr txBox="1">
            <a:spLocks/>
          </p:cNvSpPr>
          <p:nvPr/>
        </p:nvSpPr>
        <p:spPr>
          <a:xfrm>
            <a:off x="7398150" y="3947183"/>
            <a:ext cx="1280024" cy="25789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Elsie"/>
              <a:buNone/>
              <a:defRPr sz="3500" b="0" i="1" u="none" strike="noStrike" cap="none">
                <a:solidFill>
                  <a:schemeClr val="dk1"/>
                </a:solidFill>
                <a:latin typeface="Elsie"/>
                <a:ea typeface="Elsie"/>
                <a:cs typeface="Elsie"/>
                <a:sym typeface="Elsie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pPr algn="l"/>
            <a:r>
              <a:rPr lang="en-US" sz="1500" dirty="0"/>
              <a:t>Segment 4:</a:t>
            </a:r>
          </a:p>
        </p:txBody>
      </p:sp>
      <p:sp>
        <p:nvSpPr>
          <p:cNvPr id="21" name="Google Shape;269;p34">
            <a:extLst>
              <a:ext uri="{FF2B5EF4-FFF2-40B4-BE49-F238E27FC236}">
                <a16:creationId xmlns:a16="http://schemas.microsoft.com/office/drawing/2014/main" id="{610D97D5-2CF2-C71F-6092-E7F7C32E035E}"/>
              </a:ext>
            </a:extLst>
          </p:cNvPr>
          <p:cNvSpPr txBox="1">
            <a:spLocks/>
          </p:cNvSpPr>
          <p:nvPr/>
        </p:nvSpPr>
        <p:spPr>
          <a:xfrm>
            <a:off x="7672938" y="4254051"/>
            <a:ext cx="730448" cy="354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Elsie"/>
              <a:buNone/>
              <a:defRPr sz="3500" b="0" i="1" u="none" strike="noStrike" cap="none">
                <a:solidFill>
                  <a:schemeClr val="dk1"/>
                </a:solidFill>
                <a:latin typeface="Elsie"/>
                <a:ea typeface="Elsie"/>
                <a:cs typeface="Elsie"/>
                <a:sym typeface="Elsie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pPr algn="l"/>
            <a:r>
              <a:rPr lang="en-US" sz="1300" i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0.43 %</a:t>
            </a:r>
          </a:p>
        </p:txBody>
      </p:sp>
      <p:sp>
        <p:nvSpPr>
          <p:cNvPr id="22" name="Google Shape;269;p34">
            <a:extLst>
              <a:ext uri="{FF2B5EF4-FFF2-40B4-BE49-F238E27FC236}">
                <a16:creationId xmlns:a16="http://schemas.microsoft.com/office/drawing/2014/main" id="{8456CBDF-44CF-29BC-0BF1-6EEFC2E1E4D8}"/>
              </a:ext>
            </a:extLst>
          </p:cNvPr>
          <p:cNvSpPr txBox="1">
            <a:spLocks/>
          </p:cNvSpPr>
          <p:nvPr/>
        </p:nvSpPr>
        <p:spPr>
          <a:xfrm>
            <a:off x="299597" y="4608895"/>
            <a:ext cx="2230346" cy="354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Elsie"/>
              <a:buNone/>
              <a:defRPr sz="3500" b="0" i="1" u="none" strike="noStrike" cap="none">
                <a:solidFill>
                  <a:schemeClr val="dk1"/>
                </a:solidFill>
                <a:latin typeface="Elsie"/>
                <a:ea typeface="Elsie"/>
                <a:cs typeface="Elsie"/>
                <a:sym typeface="Elsie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pPr algn="l"/>
            <a:r>
              <a:rPr lang="en-US" sz="1300" i="0" dirty="0"/>
              <a:t>Strongest Persuadable</a:t>
            </a:r>
          </a:p>
        </p:txBody>
      </p:sp>
      <p:sp>
        <p:nvSpPr>
          <p:cNvPr id="23" name="Google Shape;269;p34">
            <a:extLst>
              <a:ext uri="{FF2B5EF4-FFF2-40B4-BE49-F238E27FC236}">
                <a16:creationId xmlns:a16="http://schemas.microsoft.com/office/drawing/2014/main" id="{C4BA5E17-DA47-8949-4C70-2B9FD21911ED}"/>
              </a:ext>
            </a:extLst>
          </p:cNvPr>
          <p:cNvSpPr txBox="1">
            <a:spLocks/>
          </p:cNvSpPr>
          <p:nvPr/>
        </p:nvSpPr>
        <p:spPr>
          <a:xfrm>
            <a:off x="2529943" y="4608895"/>
            <a:ext cx="2230346" cy="354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Elsie"/>
              <a:buNone/>
              <a:defRPr sz="3500" b="0" i="1" u="none" strike="noStrike" cap="none">
                <a:solidFill>
                  <a:schemeClr val="dk1"/>
                </a:solidFill>
                <a:latin typeface="Elsie"/>
                <a:ea typeface="Elsie"/>
                <a:cs typeface="Elsie"/>
                <a:sym typeface="Elsie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pPr algn="l"/>
            <a:r>
              <a:rPr lang="en-US" sz="1300" i="0" dirty="0"/>
              <a:t>Positive, but weaker</a:t>
            </a:r>
          </a:p>
        </p:txBody>
      </p:sp>
      <p:sp>
        <p:nvSpPr>
          <p:cNvPr id="24" name="Google Shape;269;p34">
            <a:extLst>
              <a:ext uri="{FF2B5EF4-FFF2-40B4-BE49-F238E27FC236}">
                <a16:creationId xmlns:a16="http://schemas.microsoft.com/office/drawing/2014/main" id="{443A5F16-7BD0-2140-0F1A-3D3705FAB862}"/>
              </a:ext>
            </a:extLst>
          </p:cNvPr>
          <p:cNvSpPr txBox="1">
            <a:spLocks/>
          </p:cNvSpPr>
          <p:nvPr/>
        </p:nvSpPr>
        <p:spPr>
          <a:xfrm>
            <a:off x="5109859" y="4608895"/>
            <a:ext cx="2230346" cy="354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Elsie"/>
              <a:buNone/>
              <a:defRPr sz="3500" b="0" i="1" u="none" strike="noStrike" cap="none">
                <a:solidFill>
                  <a:schemeClr val="dk1"/>
                </a:solidFill>
                <a:latin typeface="Elsie"/>
                <a:ea typeface="Elsie"/>
                <a:cs typeface="Elsie"/>
                <a:sym typeface="Elsie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pPr algn="l"/>
            <a:r>
              <a:rPr lang="en-US" sz="1300" i="0" dirty="0"/>
              <a:t>CI crosses Zero</a:t>
            </a:r>
          </a:p>
        </p:txBody>
      </p:sp>
      <p:sp>
        <p:nvSpPr>
          <p:cNvPr id="25" name="Google Shape;269;p34">
            <a:extLst>
              <a:ext uri="{FF2B5EF4-FFF2-40B4-BE49-F238E27FC236}">
                <a16:creationId xmlns:a16="http://schemas.microsoft.com/office/drawing/2014/main" id="{032CF14A-198E-5B95-7DF8-695FE9F5927D}"/>
              </a:ext>
            </a:extLst>
          </p:cNvPr>
          <p:cNvSpPr txBox="1">
            <a:spLocks/>
          </p:cNvSpPr>
          <p:nvPr/>
        </p:nvSpPr>
        <p:spPr>
          <a:xfrm>
            <a:off x="7042394" y="4621072"/>
            <a:ext cx="2230346" cy="354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Elsie"/>
              <a:buNone/>
              <a:defRPr sz="3500" b="0" i="1" u="none" strike="noStrike" cap="none">
                <a:solidFill>
                  <a:schemeClr val="dk1"/>
                </a:solidFill>
                <a:latin typeface="Elsie"/>
                <a:ea typeface="Elsie"/>
                <a:cs typeface="Elsie"/>
                <a:sym typeface="Elsie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pPr algn="l"/>
            <a:r>
              <a:rPr lang="en-US" sz="1300" i="0" dirty="0"/>
              <a:t>Low baseline response</a:t>
            </a:r>
          </a:p>
        </p:txBody>
      </p:sp>
    </p:spTree>
    <p:extLst>
      <p:ext uri="{BB962C8B-B14F-4D97-AF65-F5344CB8AC3E}">
        <p14:creationId xmlns:p14="http://schemas.microsoft.com/office/powerpoint/2010/main" val="167342302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5" name="Google Shape;325;p37"/>
          <p:cNvSpPr txBox="1">
            <a:spLocks noGrp="1"/>
          </p:cNvSpPr>
          <p:nvPr>
            <p:ph type="title"/>
          </p:nvPr>
        </p:nvSpPr>
        <p:spPr>
          <a:xfrm>
            <a:off x="719999" y="272042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Business Interpretation of Segments</a:t>
            </a:r>
            <a:endParaRPr dirty="0"/>
          </a:p>
        </p:txBody>
      </p:sp>
      <p:pic>
        <p:nvPicPr>
          <p:cNvPr id="11" name="Picture 10" descr="A screenshot of a computer screen&#10;&#10;AI-generated content may be incorrect.">
            <a:extLst>
              <a:ext uri="{FF2B5EF4-FFF2-40B4-BE49-F238E27FC236}">
                <a16:creationId xmlns:a16="http://schemas.microsoft.com/office/drawing/2014/main" id="{AC6434AB-8787-177F-17E8-C9B90949FAB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0101" y="1017725"/>
            <a:ext cx="8563797" cy="3281033"/>
          </a:xfrm>
          <a:prstGeom prst="rect">
            <a:avLst/>
          </a:prstGeom>
        </p:spPr>
      </p:pic>
      <p:sp>
        <p:nvSpPr>
          <p:cNvPr id="12" name="Google Shape;269;p34">
            <a:extLst>
              <a:ext uri="{FF2B5EF4-FFF2-40B4-BE49-F238E27FC236}">
                <a16:creationId xmlns:a16="http://schemas.microsoft.com/office/drawing/2014/main" id="{578991DA-7669-FF13-106D-469BEBC29C64}"/>
              </a:ext>
            </a:extLst>
          </p:cNvPr>
          <p:cNvSpPr txBox="1">
            <a:spLocks/>
          </p:cNvSpPr>
          <p:nvPr/>
        </p:nvSpPr>
        <p:spPr>
          <a:xfrm>
            <a:off x="1307910" y="4471741"/>
            <a:ext cx="6528178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Elsie"/>
              <a:buNone/>
              <a:defRPr sz="3500" b="0" i="1" u="none" strike="noStrike" cap="none">
                <a:solidFill>
                  <a:schemeClr val="dk1"/>
                </a:solidFill>
                <a:latin typeface="Elsie"/>
                <a:ea typeface="Elsie"/>
                <a:cs typeface="Elsie"/>
                <a:sym typeface="Elsie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r>
              <a:rPr lang="en-US" sz="1600" dirty="0"/>
              <a:t>* No clear Do-Not-Disturb segment!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82">
          <a:extLst>
            <a:ext uri="{FF2B5EF4-FFF2-40B4-BE49-F238E27FC236}">
              <a16:creationId xmlns:a16="http://schemas.microsoft.com/office/drawing/2014/main" id="{46D7907B-986F-68F4-E1BC-737514F7DC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" name="Google Shape;283;p35">
            <a:extLst>
              <a:ext uri="{FF2B5EF4-FFF2-40B4-BE49-F238E27FC236}">
                <a16:creationId xmlns:a16="http://schemas.microsoft.com/office/drawing/2014/main" id="{E4262BC0-2763-FB96-9249-2EDA7271C587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89781" y="282165"/>
            <a:ext cx="8764438" cy="677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500" dirty="0"/>
              <a:t>Segments are Stable &amp; Learnable! </a:t>
            </a:r>
            <a:endParaRPr sz="3500" dirty="0"/>
          </a:p>
        </p:txBody>
      </p:sp>
      <p:grpSp>
        <p:nvGrpSpPr>
          <p:cNvPr id="286" name="Google Shape;286;p35">
            <a:extLst>
              <a:ext uri="{FF2B5EF4-FFF2-40B4-BE49-F238E27FC236}">
                <a16:creationId xmlns:a16="http://schemas.microsoft.com/office/drawing/2014/main" id="{2E0F6BBC-6260-5ABC-4D0C-81DF12FBEE5C}"/>
              </a:ext>
            </a:extLst>
          </p:cNvPr>
          <p:cNvGrpSpPr/>
          <p:nvPr/>
        </p:nvGrpSpPr>
        <p:grpSpPr>
          <a:xfrm>
            <a:off x="2802750" y="256607"/>
            <a:ext cx="3445675" cy="197700"/>
            <a:chOff x="2659300" y="2970747"/>
            <a:chExt cx="3445675" cy="197700"/>
          </a:xfrm>
        </p:grpSpPr>
        <p:sp>
          <p:nvSpPr>
            <p:cNvPr id="287" name="Google Shape;287;p35">
              <a:extLst>
                <a:ext uri="{FF2B5EF4-FFF2-40B4-BE49-F238E27FC236}">
                  <a16:creationId xmlns:a16="http://schemas.microsoft.com/office/drawing/2014/main" id="{49301443-7388-77B2-B2BF-9FA1D0AF2FC1}"/>
                </a:ext>
              </a:extLst>
            </p:cNvPr>
            <p:cNvSpPr/>
            <p:nvPr/>
          </p:nvSpPr>
          <p:spPr>
            <a:xfrm>
              <a:off x="4329709" y="2970747"/>
              <a:ext cx="197700" cy="197700"/>
            </a:xfrm>
            <a:prstGeom prst="plaque">
              <a:avLst>
                <a:gd name="adj" fmla="val 50000"/>
              </a:avLst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cxnSp>
          <p:nvCxnSpPr>
            <p:cNvPr id="288" name="Google Shape;288;p35">
              <a:extLst>
                <a:ext uri="{FF2B5EF4-FFF2-40B4-BE49-F238E27FC236}">
                  <a16:creationId xmlns:a16="http://schemas.microsoft.com/office/drawing/2014/main" id="{D80C18AC-D7E6-DC0E-3C53-668CB30D113C}"/>
                </a:ext>
              </a:extLst>
            </p:cNvPr>
            <p:cNvCxnSpPr/>
            <p:nvPr/>
          </p:nvCxnSpPr>
          <p:spPr>
            <a:xfrm>
              <a:off x="2659300" y="3069594"/>
              <a:ext cx="1521300" cy="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89" name="Google Shape;289;p35">
              <a:extLst>
                <a:ext uri="{FF2B5EF4-FFF2-40B4-BE49-F238E27FC236}">
                  <a16:creationId xmlns:a16="http://schemas.microsoft.com/office/drawing/2014/main" id="{9596647E-F3E9-1745-C56C-7E9770C9E169}"/>
                </a:ext>
              </a:extLst>
            </p:cNvPr>
            <p:cNvCxnSpPr/>
            <p:nvPr/>
          </p:nvCxnSpPr>
          <p:spPr>
            <a:xfrm>
              <a:off x="4676375" y="3069600"/>
              <a:ext cx="1428600" cy="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10A87ED7-8528-8654-C718-9BE734C338AB}"/>
              </a:ext>
            </a:extLst>
          </p:cNvPr>
          <p:cNvSpPr/>
          <p:nvPr/>
        </p:nvSpPr>
        <p:spPr>
          <a:xfrm>
            <a:off x="427502" y="3818066"/>
            <a:ext cx="1431985" cy="675504"/>
          </a:xfrm>
          <a:prstGeom prst="roundRect">
            <a:avLst/>
          </a:prstGeom>
          <a:solidFill>
            <a:srgbClr val="EAF3FB"/>
          </a:solidFill>
          <a:ln>
            <a:solidFill>
              <a:srgbClr val="437BB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BDC8CF37-9FE1-A021-1501-637C45F29AFC}"/>
              </a:ext>
            </a:extLst>
          </p:cNvPr>
          <p:cNvSpPr/>
          <p:nvPr/>
        </p:nvSpPr>
        <p:spPr>
          <a:xfrm>
            <a:off x="2643655" y="3818065"/>
            <a:ext cx="1431985" cy="675504"/>
          </a:xfrm>
          <a:prstGeom prst="roundRect">
            <a:avLst/>
          </a:prstGeom>
          <a:solidFill>
            <a:srgbClr val="EBF4FB"/>
          </a:solidFill>
          <a:ln>
            <a:solidFill>
              <a:srgbClr val="427BB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ounded Rectangle 10">
            <a:extLst>
              <a:ext uri="{FF2B5EF4-FFF2-40B4-BE49-F238E27FC236}">
                <a16:creationId xmlns:a16="http://schemas.microsoft.com/office/drawing/2014/main" id="{A8FE462E-95F0-3ACD-2822-8761E6200505}"/>
              </a:ext>
            </a:extLst>
          </p:cNvPr>
          <p:cNvSpPr/>
          <p:nvPr/>
        </p:nvSpPr>
        <p:spPr>
          <a:xfrm>
            <a:off x="4688301" y="3705267"/>
            <a:ext cx="1924724" cy="957039"/>
          </a:xfrm>
          <a:prstGeom prst="roundRect">
            <a:avLst/>
          </a:prstGeom>
          <a:solidFill>
            <a:srgbClr val="FFFFFF"/>
          </a:solidFill>
          <a:ln>
            <a:solidFill>
              <a:srgbClr val="D6E0E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Google Shape;269;p34">
            <a:extLst>
              <a:ext uri="{FF2B5EF4-FFF2-40B4-BE49-F238E27FC236}">
                <a16:creationId xmlns:a16="http://schemas.microsoft.com/office/drawing/2014/main" id="{5379CA05-7C75-001C-42F9-E919C1BAE36E}"/>
              </a:ext>
            </a:extLst>
          </p:cNvPr>
          <p:cNvSpPr txBox="1">
            <a:spLocks/>
          </p:cNvSpPr>
          <p:nvPr/>
        </p:nvSpPr>
        <p:spPr>
          <a:xfrm>
            <a:off x="662670" y="3816112"/>
            <a:ext cx="1091734" cy="3969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Elsie"/>
              <a:buNone/>
              <a:defRPr sz="3500" b="0" i="1" u="none" strike="noStrike" cap="none">
                <a:solidFill>
                  <a:schemeClr val="dk1"/>
                </a:solidFill>
                <a:latin typeface="Elsie"/>
                <a:ea typeface="Elsie"/>
                <a:cs typeface="Elsie"/>
                <a:sym typeface="Elsie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pPr algn="l"/>
            <a:r>
              <a:rPr lang="en-US" sz="1500" dirty="0"/>
              <a:t>Accuracy:</a:t>
            </a:r>
          </a:p>
        </p:txBody>
      </p:sp>
      <p:sp>
        <p:nvSpPr>
          <p:cNvPr id="15" name="Google Shape;269;p34">
            <a:extLst>
              <a:ext uri="{FF2B5EF4-FFF2-40B4-BE49-F238E27FC236}">
                <a16:creationId xmlns:a16="http://schemas.microsoft.com/office/drawing/2014/main" id="{0DB77BA5-68C7-DE23-D4A6-03C1AC421938}"/>
              </a:ext>
            </a:extLst>
          </p:cNvPr>
          <p:cNvSpPr txBox="1">
            <a:spLocks/>
          </p:cNvSpPr>
          <p:nvPr/>
        </p:nvSpPr>
        <p:spPr>
          <a:xfrm>
            <a:off x="857124" y="4096616"/>
            <a:ext cx="730448" cy="3969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Elsie"/>
              <a:buNone/>
              <a:defRPr sz="3500" b="0" i="1" u="none" strike="noStrike" cap="none">
                <a:solidFill>
                  <a:schemeClr val="dk1"/>
                </a:solidFill>
                <a:latin typeface="Elsie"/>
                <a:ea typeface="Elsie"/>
                <a:cs typeface="Elsie"/>
                <a:sym typeface="Elsie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pPr algn="l"/>
            <a:r>
              <a:rPr lang="en-US" sz="1300" i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95.22%</a:t>
            </a:r>
          </a:p>
        </p:txBody>
      </p:sp>
      <p:sp>
        <p:nvSpPr>
          <p:cNvPr id="16" name="Google Shape;269;p34">
            <a:extLst>
              <a:ext uri="{FF2B5EF4-FFF2-40B4-BE49-F238E27FC236}">
                <a16:creationId xmlns:a16="http://schemas.microsoft.com/office/drawing/2014/main" id="{42CC46E7-C106-B3A7-B947-8ACB1E9113A6}"/>
              </a:ext>
            </a:extLst>
          </p:cNvPr>
          <p:cNvSpPr txBox="1">
            <a:spLocks/>
          </p:cNvSpPr>
          <p:nvPr/>
        </p:nvSpPr>
        <p:spPr>
          <a:xfrm>
            <a:off x="2947706" y="3794691"/>
            <a:ext cx="1091734" cy="3969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Elsie"/>
              <a:buNone/>
              <a:defRPr sz="3500" b="0" i="1" u="none" strike="noStrike" cap="none">
                <a:solidFill>
                  <a:schemeClr val="dk1"/>
                </a:solidFill>
                <a:latin typeface="Elsie"/>
                <a:ea typeface="Elsie"/>
                <a:cs typeface="Elsie"/>
                <a:sym typeface="Elsie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pPr algn="l"/>
            <a:r>
              <a:rPr lang="en-US" sz="1500" dirty="0"/>
              <a:t>Kappa:</a:t>
            </a:r>
          </a:p>
        </p:txBody>
      </p:sp>
      <p:sp>
        <p:nvSpPr>
          <p:cNvPr id="17" name="Google Shape;269;p34">
            <a:extLst>
              <a:ext uri="{FF2B5EF4-FFF2-40B4-BE49-F238E27FC236}">
                <a16:creationId xmlns:a16="http://schemas.microsoft.com/office/drawing/2014/main" id="{F0500BB7-EB4D-6ABD-27B5-E06D1742A62F}"/>
              </a:ext>
            </a:extLst>
          </p:cNvPr>
          <p:cNvSpPr txBox="1">
            <a:spLocks/>
          </p:cNvSpPr>
          <p:nvPr/>
        </p:nvSpPr>
        <p:spPr>
          <a:xfrm>
            <a:off x="3081211" y="4104518"/>
            <a:ext cx="730448" cy="3969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Elsie"/>
              <a:buNone/>
              <a:defRPr sz="3500" b="0" i="1" u="none" strike="noStrike" cap="none">
                <a:solidFill>
                  <a:schemeClr val="dk1"/>
                </a:solidFill>
                <a:latin typeface="Elsie"/>
                <a:ea typeface="Elsie"/>
                <a:cs typeface="Elsie"/>
                <a:sym typeface="Elsie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pPr algn="l"/>
            <a:r>
              <a:rPr lang="en-US" sz="1300" i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0.931</a:t>
            </a:r>
          </a:p>
        </p:txBody>
      </p:sp>
      <p:sp>
        <p:nvSpPr>
          <p:cNvPr id="18" name="Google Shape;269;p34">
            <a:extLst>
              <a:ext uri="{FF2B5EF4-FFF2-40B4-BE49-F238E27FC236}">
                <a16:creationId xmlns:a16="http://schemas.microsoft.com/office/drawing/2014/main" id="{4AB33837-14FC-65D1-3500-F07AEB455FEE}"/>
              </a:ext>
            </a:extLst>
          </p:cNvPr>
          <p:cNvSpPr txBox="1">
            <a:spLocks/>
          </p:cNvSpPr>
          <p:nvPr/>
        </p:nvSpPr>
        <p:spPr>
          <a:xfrm>
            <a:off x="5033383" y="3763179"/>
            <a:ext cx="1571974" cy="41108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Elsie"/>
              <a:buNone/>
              <a:defRPr sz="3500" b="0" i="1" u="none" strike="noStrike" cap="none">
                <a:solidFill>
                  <a:schemeClr val="dk1"/>
                </a:solidFill>
                <a:latin typeface="Elsie"/>
                <a:ea typeface="Elsie"/>
                <a:cs typeface="Elsie"/>
                <a:sym typeface="Elsie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pPr algn="l"/>
            <a:r>
              <a:rPr lang="en-US" sz="1500" dirty="0"/>
              <a:t>Best tuning:</a:t>
            </a:r>
          </a:p>
        </p:txBody>
      </p:sp>
      <p:sp>
        <p:nvSpPr>
          <p:cNvPr id="19" name="Google Shape;269;p34">
            <a:extLst>
              <a:ext uri="{FF2B5EF4-FFF2-40B4-BE49-F238E27FC236}">
                <a16:creationId xmlns:a16="http://schemas.microsoft.com/office/drawing/2014/main" id="{705E0FF8-6E5C-97DE-BD79-78792339B265}"/>
              </a:ext>
            </a:extLst>
          </p:cNvPr>
          <p:cNvSpPr txBox="1">
            <a:spLocks/>
          </p:cNvSpPr>
          <p:nvPr/>
        </p:nvSpPr>
        <p:spPr>
          <a:xfrm>
            <a:off x="4676451" y="4012102"/>
            <a:ext cx="1571974" cy="2611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Elsie"/>
              <a:buNone/>
              <a:defRPr sz="3500" b="0" i="1" u="none" strike="noStrike" cap="none">
                <a:solidFill>
                  <a:schemeClr val="dk1"/>
                </a:solidFill>
                <a:latin typeface="Elsie"/>
                <a:ea typeface="Elsie"/>
                <a:cs typeface="Elsie"/>
                <a:sym typeface="Elsie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pPr algn="l"/>
            <a:r>
              <a:rPr lang="en-US" sz="1300" i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mtry</a:t>
            </a:r>
            <a:r>
              <a:rPr lang="en-US" sz="1300" i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2</a:t>
            </a:r>
          </a:p>
          <a:p>
            <a:pPr algn="l"/>
            <a:r>
              <a:rPr lang="en-US" sz="1300" i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extratrees</a:t>
            </a:r>
            <a:endParaRPr lang="en-US" sz="1300" i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" name="Picture 2" descr="A graph with green lines&#10;&#10;AI-generated content may be incorrect.">
            <a:extLst>
              <a:ext uri="{FF2B5EF4-FFF2-40B4-BE49-F238E27FC236}">
                <a16:creationId xmlns:a16="http://schemas.microsoft.com/office/drawing/2014/main" id="{B33B6341-CACA-86CA-9D46-D2A0AFACBCA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02681" y="937908"/>
            <a:ext cx="4748038" cy="2623225"/>
          </a:xfrm>
          <a:prstGeom prst="rect">
            <a:avLst/>
          </a:prstGeom>
        </p:spPr>
      </p:pic>
      <p:pic>
        <p:nvPicPr>
          <p:cNvPr id="6" name="Picture 5" descr="A graph with numbers and a bar&#10;&#10;AI-generated content may be incorrect.">
            <a:extLst>
              <a:ext uri="{FF2B5EF4-FFF2-40B4-BE49-F238E27FC236}">
                <a16:creationId xmlns:a16="http://schemas.microsoft.com/office/drawing/2014/main" id="{EAA17199-2A16-ECAD-7647-415FDFAC7D9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-52348" y="913248"/>
            <a:ext cx="4599473" cy="2598370"/>
          </a:xfrm>
          <a:prstGeom prst="rect">
            <a:avLst/>
          </a:prstGeom>
        </p:spPr>
      </p:pic>
      <p:sp>
        <p:nvSpPr>
          <p:cNvPr id="12" name="Rounded Rectangle 11">
            <a:extLst>
              <a:ext uri="{FF2B5EF4-FFF2-40B4-BE49-F238E27FC236}">
                <a16:creationId xmlns:a16="http://schemas.microsoft.com/office/drawing/2014/main" id="{53A8EE20-EAD3-635B-0061-EB13CD005B3A}"/>
              </a:ext>
            </a:extLst>
          </p:cNvPr>
          <p:cNvSpPr/>
          <p:nvPr/>
        </p:nvSpPr>
        <p:spPr>
          <a:xfrm>
            <a:off x="6715126" y="3682301"/>
            <a:ext cx="1924724" cy="1053300"/>
          </a:xfrm>
          <a:prstGeom prst="roundRect">
            <a:avLst/>
          </a:prstGeom>
          <a:solidFill>
            <a:srgbClr val="FFFFFF"/>
          </a:solidFill>
          <a:ln>
            <a:solidFill>
              <a:srgbClr val="D6E0E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Google Shape;269;p34">
            <a:extLst>
              <a:ext uri="{FF2B5EF4-FFF2-40B4-BE49-F238E27FC236}">
                <a16:creationId xmlns:a16="http://schemas.microsoft.com/office/drawing/2014/main" id="{20877F1E-A830-BAE1-2BE4-3681F5CC1607}"/>
              </a:ext>
            </a:extLst>
          </p:cNvPr>
          <p:cNvSpPr txBox="1">
            <a:spLocks/>
          </p:cNvSpPr>
          <p:nvPr/>
        </p:nvSpPr>
        <p:spPr>
          <a:xfrm>
            <a:off x="6791157" y="3741904"/>
            <a:ext cx="1856375" cy="3968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Elsie"/>
              <a:buNone/>
              <a:defRPr sz="3500" b="0" i="1" u="none" strike="noStrike" cap="none">
                <a:solidFill>
                  <a:schemeClr val="dk1"/>
                </a:solidFill>
                <a:latin typeface="Elsie"/>
                <a:ea typeface="Elsie"/>
                <a:cs typeface="Elsie"/>
                <a:sym typeface="Elsie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pPr algn="l"/>
            <a:r>
              <a:rPr lang="en-US" sz="1500" dirty="0"/>
              <a:t>Boundary Pattern:</a:t>
            </a:r>
          </a:p>
        </p:txBody>
      </p:sp>
      <p:sp>
        <p:nvSpPr>
          <p:cNvPr id="26" name="Google Shape;269;p34">
            <a:extLst>
              <a:ext uri="{FF2B5EF4-FFF2-40B4-BE49-F238E27FC236}">
                <a16:creationId xmlns:a16="http://schemas.microsoft.com/office/drawing/2014/main" id="{C899A5A2-49F4-1BF9-36B0-7DE0DDC46641}"/>
              </a:ext>
            </a:extLst>
          </p:cNvPr>
          <p:cNvSpPr txBox="1">
            <a:spLocks/>
          </p:cNvSpPr>
          <p:nvPr/>
        </p:nvSpPr>
        <p:spPr>
          <a:xfrm>
            <a:off x="6703680" y="3991005"/>
            <a:ext cx="1936170" cy="6713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Elsie"/>
              <a:buNone/>
              <a:defRPr sz="3500" b="0" i="1" u="none" strike="noStrike" cap="none">
                <a:solidFill>
                  <a:schemeClr val="dk1"/>
                </a:solidFill>
                <a:latin typeface="Elsie"/>
                <a:ea typeface="Elsie"/>
                <a:cs typeface="Elsie"/>
                <a:sym typeface="Elsie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pPr algn="l"/>
            <a:r>
              <a:rPr lang="en-US" sz="1300" i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Most errors are between neighboring segments</a:t>
            </a:r>
          </a:p>
        </p:txBody>
      </p:sp>
    </p:spTree>
    <p:extLst>
      <p:ext uri="{BB962C8B-B14F-4D97-AF65-F5344CB8AC3E}">
        <p14:creationId xmlns:p14="http://schemas.microsoft.com/office/powerpoint/2010/main" val="91976867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82">
          <a:extLst>
            <a:ext uri="{FF2B5EF4-FFF2-40B4-BE49-F238E27FC236}">
              <a16:creationId xmlns:a16="http://schemas.microsoft.com/office/drawing/2014/main" id="{DC441F63-F184-BD2A-5029-5793932DCA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" name="Google Shape;283;p35">
            <a:extLst>
              <a:ext uri="{FF2B5EF4-FFF2-40B4-BE49-F238E27FC236}">
                <a16:creationId xmlns:a16="http://schemas.microsoft.com/office/drawing/2014/main" id="{3AF91812-457E-82DD-2182-E6E7CB439A69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89781" y="282165"/>
            <a:ext cx="8764438" cy="677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500" dirty="0"/>
              <a:t>Binary </a:t>
            </a:r>
            <a:r>
              <a:rPr lang="en" sz="3500" dirty="0" err="1"/>
              <a:t>Persuadables</a:t>
            </a:r>
            <a:r>
              <a:rPr lang="en" sz="3500" dirty="0"/>
              <a:t> Model</a:t>
            </a:r>
            <a:endParaRPr sz="3500" dirty="0"/>
          </a:p>
        </p:txBody>
      </p:sp>
      <p:grpSp>
        <p:nvGrpSpPr>
          <p:cNvPr id="286" name="Google Shape;286;p35">
            <a:extLst>
              <a:ext uri="{FF2B5EF4-FFF2-40B4-BE49-F238E27FC236}">
                <a16:creationId xmlns:a16="http://schemas.microsoft.com/office/drawing/2014/main" id="{0946C644-0E7B-5818-4B42-1A69E565A4CD}"/>
              </a:ext>
            </a:extLst>
          </p:cNvPr>
          <p:cNvGrpSpPr/>
          <p:nvPr/>
        </p:nvGrpSpPr>
        <p:grpSpPr>
          <a:xfrm>
            <a:off x="2802750" y="256607"/>
            <a:ext cx="3445675" cy="197700"/>
            <a:chOff x="2659300" y="2970747"/>
            <a:chExt cx="3445675" cy="197700"/>
          </a:xfrm>
        </p:grpSpPr>
        <p:sp>
          <p:nvSpPr>
            <p:cNvPr id="287" name="Google Shape;287;p35">
              <a:extLst>
                <a:ext uri="{FF2B5EF4-FFF2-40B4-BE49-F238E27FC236}">
                  <a16:creationId xmlns:a16="http://schemas.microsoft.com/office/drawing/2014/main" id="{3F4B4FEA-B861-35AD-1C54-78154B68CC6B}"/>
                </a:ext>
              </a:extLst>
            </p:cNvPr>
            <p:cNvSpPr/>
            <p:nvPr/>
          </p:nvSpPr>
          <p:spPr>
            <a:xfrm>
              <a:off x="4329709" y="2970747"/>
              <a:ext cx="197700" cy="197700"/>
            </a:xfrm>
            <a:prstGeom prst="plaque">
              <a:avLst>
                <a:gd name="adj" fmla="val 50000"/>
              </a:avLst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cxnSp>
          <p:nvCxnSpPr>
            <p:cNvPr id="288" name="Google Shape;288;p35">
              <a:extLst>
                <a:ext uri="{FF2B5EF4-FFF2-40B4-BE49-F238E27FC236}">
                  <a16:creationId xmlns:a16="http://schemas.microsoft.com/office/drawing/2014/main" id="{8AB33F11-D8FF-1F37-5C72-4F30D0ECB0A3}"/>
                </a:ext>
              </a:extLst>
            </p:cNvPr>
            <p:cNvCxnSpPr/>
            <p:nvPr/>
          </p:nvCxnSpPr>
          <p:spPr>
            <a:xfrm>
              <a:off x="2659300" y="3069594"/>
              <a:ext cx="1521300" cy="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89" name="Google Shape;289;p35">
              <a:extLst>
                <a:ext uri="{FF2B5EF4-FFF2-40B4-BE49-F238E27FC236}">
                  <a16:creationId xmlns:a16="http://schemas.microsoft.com/office/drawing/2014/main" id="{95D77840-4738-CCC5-DEEC-EEE18865BAE6}"/>
                </a:ext>
              </a:extLst>
            </p:cNvPr>
            <p:cNvCxnSpPr/>
            <p:nvPr/>
          </p:nvCxnSpPr>
          <p:spPr>
            <a:xfrm>
              <a:off x="4676375" y="3069600"/>
              <a:ext cx="1428600" cy="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28674E63-005B-7B13-D94D-0A4C3E3C9096}"/>
              </a:ext>
            </a:extLst>
          </p:cNvPr>
          <p:cNvSpPr/>
          <p:nvPr/>
        </p:nvSpPr>
        <p:spPr>
          <a:xfrm>
            <a:off x="340108" y="1132015"/>
            <a:ext cx="1664060" cy="820592"/>
          </a:xfrm>
          <a:prstGeom prst="roundRect">
            <a:avLst/>
          </a:prstGeom>
          <a:solidFill>
            <a:srgbClr val="EAF3FB"/>
          </a:solidFill>
          <a:ln>
            <a:solidFill>
              <a:srgbClr val="437BB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E49EB583-6A58-427A-94F5-127B1D3F2C3D}"/>
              </a:ext>
            </a:extLst>
          </p:cNvPr>
          <p:cNvSpPr/>
          <p:nvPr/>
        </p:nvSpPr>
        <p:spPr>
          <a:xfrm>
            <a:off x="2556261" y="1132014"/>
            <a:ext cx="1664060" cy="820592"/>
          </a:xfrm>
          <a:prstGeom prst="roundRect">
            <a:avLst/>
          </a:prstGeom>
          <a:solidFill>
            <a:srgbClr val="EBF4FB"/>
          </a:solidFill>
          <a:ln>
            <a:solidFill>
              <a:srgbClr val="437BB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ounded Rectangle 9">
            <a:extLst>
              <a:ext uri="{FF2B5EF4-FFF2-40B4-BE49-F238E27FC236}">
                <a16:creationId xmlns:a16="http://schemas.microsoft.com/office/drawing/2014/main" id="{7A9B0617-B01C-15E8-0DAA-B472D0755264}"/>
              </a:ext>
            </a:extLst>
          </p:cNvPr>
          <p:cNvSpPr/>
          <p:nvPr/>
        </p:nvSpPr>
        <p:spPr>
          <a:xfrm>
            <a:off x="7085965" y="1132013"/>
            <a:ext cx="1664060" cy="820592"/>
          </a:xfrm>
          <a:prstGeom prst="roundRect">
            <a:avLst/>
          </a:prstGeom>
          <a:solidFill>
            <a:srgbClr val="FFFFFF"/>
          </a:solidFill>
          <a:ln>
            <a:solidFill>
              <a:srgbClr val="D7E1E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ounded Rectangle 10">
            <a:extLst>
              <a:ext uri="{FF2B5EF4-FFF2-40B4-BE49-F238E27FC236}">
                <a16:creationId xmlns:a16="http://schemas.microsoft.com/office/drawing/2014/main" id="{12973387-42B1-12EF-FC0D-B5C5AE44592D}"/>
              </a:ext>
            </a:extLst>
          </p:cNvPr>
          <p:cNvSpPr/>
          <p:nvPr/>
        </p:nvSpPr>
        <p:spPr>
          <a:xfrm>
            <a:off x="4869814" y="1134890"/>
            <a:ext cx="1664060" cy="820592"/>
          </a:xfrm>
          <a:prstGeom prst="roundRect">
            <a:avLst/>
          </a:prstGeom>
          <a:solidFill>
            <a:srgbClr val="FFFFFF"/>
          </a:solidFill>
          <a:ln>
            <a:solidFill>
              <a:srgbClr val="D7E1E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Google Shape;269;p34">
            <a:extLst>
              <a:ext uri="{FF2B5EF4-FFF2-40B4-BE49-F238E27FC236}">
                <a16:creationId xmlns:a16="http://schemas.microsoft.com/office/drawing/2014/main" id="{C1CCCD59-0EA1-CB08-CEFB-398A024B09DE}"/>
              </a:ext>
            </a:extLst>
          </p:cNvPr>
          <p:cNvSpPr txBox="1">
            <a:spLocks/>
          </p:cNvSpPr>
          <p:nvPr/>
        </p:nvSpPr>
        <p:spPr>
          <a:xfrm>
            <a:off x="603594" y="1107686"/>
            <a:ext cx="1091734" cy="354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Elsie"/>
              <a:buNone/>
              <a:defRPr sz="3500" b="0" i="1" u="none" strike="noStrike" cap="none">
                <a:solidFill>
                  <a:schemeClr val="dk1"/>
                </a:solidFill>
                <a:latin typeface="Elsie"/>
                <a:ea typeface="Elsie"/>
                <a:cs typeface="Elsie"/>
                <a:sym typeface="Elsie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pPr algn="l"/>
            <a:r>
              <a:rPr lang="en-US" sz="1500" dirty="0"/>
              <a:t>Accuracy:</a:t>
            </a:r>
          </a:p>
        </p:txBody>
      </p:sp>
      <p:sp>
        <p:nvSpPr>
          <p:cNvPr id="15" name="Google Shape;269;p34">
            <a:extLst>
              <a:ext uri="{FF2B5EF4-FFF2-40B4-BE49-F238E27FC236}">
                <a16:creationId xmlns:a16="http://schemas.microsoft.com/office/drawing/2014/main" id="{88A3ACB0-6FF3-0102-CBC9-D73ADFA4EF99}"/>
              </a:ext>
            </a:extLst>
          </p:cNvPr>
          <p:cNvSpPr txBox="1">
            <a:spLocks/>
          </p:cNvSpPr>
          <p:nvPr/>
        </p:nvSpPr>
        <p:spPr>
          <a:xfrm>
            <a:off x="794170" y="1422179"/>
            <a:ext cx="730448" cy="354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Elsie"/>
              <a:buNone/>
              <a:defRPr sz="3500" b="0" i="1" u="none" strike="noStrike" cap="none">
                <a:solidFill>
                  <a:schemeClr val="dk1"/>
                </a:solidFill>
                <a:latin typeface="Elsie"/>
                <a:ea typeface="Elsie"/>
                <a:cs typeface="Elsie"/>
                <a:sym typeface="Elsie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pPr algn="l"/>
            <a:r>
              <a:rPr lang="en-US" sz="1300" i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96.82%</a:t>
            </a:r>
          </a:p>
        </p:txBody>
      </p:sp>
      <p:sp>
        <p:nvSpPr>
          <p:cNvPr id="16" name="Google Shape;269;p34">
            <a:extLst>
              <a:ext uri="{FF2B5EF4-FFF2-40B4-BE49-F238E27FC236}">
                <a16:creationId xmlns:a16="http://schemas.microsoft.com/office/drawing/2014/main" id="{F1B06B78-4F5E-B557-F3E3-2971F7AC7CDE}"/>
              </a:ext>
            </a:extLst>
          </p:cNvPr>
          <p:cNvSpPr txBox="1">
            <a:spLocks/>
          </p:cNvSpPr>
          <p:nvPr/>
        </p:nvSpPr>
        <p:spPr>
          <a:xfrm>
            <a:off x="2868446" y="1107686"/>
            <a:ext cx="1091734" cy="354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Elsie"/>
              <a:buNone/>
              <a:defRPr sz="3500" b="0" i="1" u="none" strike="noStrike" cap="none">
                <a:solidFill>
                  <a:schemeClr val="dk1"/>
                </a:solidFill>
                <a:latin typeface="Elsie"/>
                <a:ea typeface="Elsie"/>
                <a:cs typeface="Elsie"/>
                <a:sym typeface="Elsie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r>
              <a:rPr lang="en-US" sz="1500" dirty="0"/>
              <a:t>AUC:</a:t>
            </a:r>
          </a:p>
        </p:txBody>
      </p:sp>
      <p:sp>
        <p:nvSpPr>
          <p:cNvPr id="17" name="Google Shape;269;p34">
            <a:extLst>
              <a:ext uri="{FF2B5EF4-FFF2-40B4-BE49-F238E27FC236}">
                <a16:creationId xmlns:a16="http://schemas.microsoft.com/office/drawing/2014/main" id="{DC71A69C-3315-3B2E-1CAD-7106485D2796}"/>
              </a:ext>
            </a:extLst>
          </p:cNvPr>
          <p:cNvSpPr txBox="1">
            <a:spLocks/>
          </p:cNvSpPr>
          <p:nvPr/>
        </p:nvSpPr>
        <p:spPr>
          <a:xfrm>
            <a:off x="3119535" y="1417513"/>
            <a:ext cx="730448" cy="354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Elsie"/>
              <a:buNone/>
              <a:defRPr sz="3500" b="0" i="1" u="none" strike="noStrike" cap="none">
                <a:solidFill>
                  <a:schemeClr val="dk1"/>
                </a:solidFill>
                <a:latin typeface="Elsie"/>
                <a:ea typeface="Elsie"/>
                <a:cs typeface="Elsie"/>
                <a:sym typeface="Elsie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pPr algn="l"/>
            <a:r>
              <a:rPr lang="en-US" sz="1300" i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0.9967</a:t>
            </a:r>
          </a:p>
        </p:txBody>
      </p:sp>
      <p:sp>
        <p:nvSpPr>
          <p:cNvPr id="18" name="Google Shape;269;p34">
            <a:extLst>
              <a:ext uri="{FF2B5EF4-FFF2-40B4-BE49-F238E27FC236}">
                <a16:creationId xmlns:a16="http://schemas.microsoft.com/office/drawing/2014/main" id="{CBE15FC4-A958-8679-1F1A-3C1444F10D50}"/>
              </a:ext>
            </a:extLst>
          </p:cNvPr>
          <p:cNvSpPr txBox="1">
            <a:spLocks/>
          </p:cNvSpPr>
          <p:nvPr/>
        </p:nvSpPr>
        <p:spPr>
          <a:xfrm>
            <a:off x="5133298" y="1118092"/>
            <a:ext cx="1280024" cy="354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Elsie"/>
              <a:buNone/>
              <a:defRPr sz="3500" b="0" i="1" u="none" strike="noStrike" cap="none">
                <a:solidFill>
                  <a:schemeClr val="dk1"/>
                </a:solidFill>
                <a:latin typeface="Elsie"/>
                <a:ea typeface="Elsie"/>
                <a:cs typeface="Elsie"/>
                <a:sym typeface="Elsie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pPr algn="l"/>
            <a:r>
              <a:rPr lang="en-US" sz="1500" dirty="0"/>
              <a:t>Sensitivity:</a:t>
            </a:r>
          </a:p>
        </p:txBody>
      </p:sp>
      <p:sp>
        <p:nvSpPr>
          <p:cNvPr id="19" name="Google Shape;269;p34">
            <a:extLst>
              <a:ext uri="{FF2B5EF4-FFF2-40B4-BE49-F238E27FC236}">
                <a16:creationId xmlns:a16="http://schemas.microsoft.com/office/drawing/2014/main" id="{1D1969DD-4E58-9883-AF7C-FA9F0FB6AE0C}"/>
              </a:ext>
            </a:extLst>
          </p:cNvPr>
          <p:cNvSpPr txBox="1">
            <a:spLocks/>
          </p:cNvSpPr>
          <p:nvPr/>
        </p:nvSpPr>
        <p:spPr>
          <a:xfrm>
            <a:off x="5414399" y="1409611"/>
            <a:ext cx="730448" cy="354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Elsie"/>
              <a:buNone/>
              <a:defRPr sz="3500" b="0" i="1" u="none" strike="noStrike" cap="none">
                <a:solidFill>
                  <a:schemeClr val="dk1"/>
                </a:solidFill>
                <a:latin typeface="Elsie"/>
                <a:ea typeface="Elsie"/>
                <a:cs typeface="Elsie"/>
                <a:sym typeface="Elsie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pPr algn="l"/>
            <a:r>
              <a:rPr lang="en-US" sz="1300" i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0.9774</a:t>
            </a:r>
          </a:p>
        </p:txBody>
      </p:sp>
      <p:sp>
        <p:nvSpPr>
          <p:cNvPr id="20" name="Google Shape;269;p34">
            <a:extLst>
              <a:ext uri="{FF2B5EF4-FFF2-40B4-BE49-F238E27FC236}">
                <a16:creationId xmlns:a16="http://schemas.microsoft.com/office/drawing/2014/main" id="{55F5FA16-CA87-3126-1FD7-DAFC8A2D0436}"/>
              </a:ext>
            </a:extLst>
          </p:cNvPr>
          <p:cNvSpPr txBox="1">
            <a:spLocks/>
          </p:cNvSpPr>
          <p:nvPr/>
        </p:nvSpPr>
        <p:spPr>
          <a:xfrm>
            <a:off x="7398150" y="1092337"/>
            <a:ext cx="1280024" cy="25789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Elsie"/>
              <a:buNone/>
              <a:defRPr sz="3500" b="0" i="1" u="none" strike="noStrike" cap="none">
                <a:solidFill>
                  <a:schemeClr val="dk1"/>
                </a:solidFill>
                <a:latin typeface="Elsie"/>
                <a:ea typeface="Elsie"/>
                <a:cs typeface="Elsie"/>
                <a:sym typeface="Elsie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pPr algn="l"/>
            <a:r>
              <a:rPr lang="en-US" sz="1500" dirty="0"/>
              <a:t>Specificity:</a:t>
            </a:r>
          </a:p>
        </p:txBody>
      </p:sp>
      <p:sp>
        <p:nvSpPr>
          <p:cNvPr id="21" name="Google Shape;269;p34">
            <a:extLst>
              <a:ext uri="{FF2B5EF4-FFF2-40B4-BE49-F238E27FC236}">
                <a16:creationId xmlns:a16="http://schemas.microsoft.com/office/drawing/2014/main" id="{1B1F4CC9-44EE-7C8C-F25E-D7ED671B4651}"/>
              </a:ext>
            </a:extLst>
          </p:cNvPr>
          <p:cNvSpPr txBox="1">
            <a:spLocks/>
          </p:cNvSpPr>
          <p:nvPr/>
        </p:nvSpPr>
        <p:spPr>
          <a:xfrm>
            <a:off x="7672938" y="1399205"/>
            <a:ext cx="730448" cy="354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Elsie"/>
              <a:buNone/>
              <a:defRPr sz="3500" b="0" i="1" u="none" strike="noStrike" cap="none">
                <a:solidFill>
                  <a:schemeClr val="dk1"/>
                </a:solidFill>
                <a:latin typeface="Elsie"/>
                <a:ea typeface="Elsie"/>
                <a:cs typeface="Elsie"/>
                <a:sym typeface="Elsie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pPr algn="l"/>
            <a:r>
              <a:rPr lang="en-US" sz="1300" i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0.9587</a:t>
            </a:r>
          </a:p>
        </p:txBody>
      </p:sp>
      <p:sp>
        <p:nvSpPr>
          <p:cNvPr id="2" name="Google Shape;269;p34">
            <a:extLst>
              <a:ext uri="{FF2B5EF4-FFF2-40B4-BE49-F238E27FC236}">
                <a16:creationId xmlns:a16="http://schemas.microsoft.com/office/drawing/2014/main" id="{1703F9A0-023D-E236-5FCC-CCE1D0231A0B}"/>
              </a:ext>
            </a:extLst>
          </p:cNvPr>
          <p:cNvSpPr txBox="1">
            <a:spLocks/>
          </p:cNvSpPr>
          <p:nvPr/>
        </p:nvSpPr>
        <p:spPr>
          <a:xfrm>
            <a:off x="167681" y="1976934"/>
            <a:ext cx="4024046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Elsie"/>
              <a:buNone/>
              <a:defRPr sz="3500" b="0" i="1" u="none" strike="noStrike" cap="none">
                <a:solidFill>
                  <a:schemeClr val="dk1"/>
                </a:solidFill>
                <a:latin typeface="Elsie"/>
                <a:ea typeface="Elsie"/>
                <a:cs typeface="Elsie"/>
                <a:sym typeface="Elsie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pPr algn="l"/>
            <a:r>
              <a:rPr lang="en-US" sz="2000" dirty="0"/>
              <a:t>Why combine Segments 2 and 3?</a:t>
            </a:r>
          </a:p>
        </p:txBody>
      </p:sp>
      <p:sp>
        <p:nvSpPr>
          <p:cNvPr id="3" name="Google Shape;269;p34">
            <a:extLst>
              <a:ext uri="{FF2B5EF4-FFF2-40B4-BE49-F238E27FC236}">
                <a16:creationId xmlns:a16="http://schemas.microsoft.com/office/drawing/2014/main" id="{08B384E6-B62D-5125-6D6E-2D0694E87B79}"/>
              </a:ext>
            </a:extLst>
          </p:cNvPr>
          <p:cNvSpPr txBox="1">
            <a:spLocks/>
          </p:cNvSpPr>
          <p:nvPr/>
        </p:nvSpPr>
        <p:spPr>
          <a:xfrm>
            <a:off x="163022" y="2379416"/>
            <a:ext cx="6438146" cy="11506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Elsie"/>
              <a:buNone/>
              <a:defRPr sz="3500" b="0" i="1" u="none" strike="noStrike" cap="none">
                <a:solidFill>
                  <a:schemeClr val="dk1"/>
                </a:solidFill>
                <a:latin typeface="Elsie"/>
                <a:ea typeface="Elsie"/>
                <a:cs typeface="Elsie"/>
                <a:sym typeface="Elsie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pPr marL="285750" indent="-285750" algn="l">
              <a:buFontTx/>
              <a:buChar char="-"/>
            </a:pPr>
            <a:r>
              <a:rPr lang="en-US" sz="1600" i="0" dirty="0"/>
              <a:t>Both segments have positive, statistically supported uplift</a:t>
            </a:r>
          </a:p>
          <a:p>
            <a:pPr marL="285750" indent="-285750" algn="l">
              <a:buFontTx/>
              <a:buChar char="-"/>
            </a:pPr>
            <a:r>
              <a:rPr lang="en-US" sz="1600" i="0" dirty="0"/>
              <a:t>The 4-class model often confuses the two segments</a:t>
            </a:r>
          </a:p>
          <a:p>
            <a:pPr marL="285750" indent="-285750" algn="l">
              <a:buFontTx/>
              <a:buChar char="-"/>
            </a:pPr>
            <a:r>
              <a:rPr lang="en-US" sz="1600" i="0" dirty="0"/>
              <a:t>A binary label is easier for real campaign teams to deploy</a:t>
            </a:r>
          </a:p>
        </p:txBody>
      </p:sp>
      <p:sp>
        <p:nvSpPr>
          <p:cNvPr id="5" name="Google Shape;269;p34">
            <a:extLst>
              <a:ext uri="{FF2B5EF4-FFF2-40B4-BE49-F238E27FC236}">
                <a16:creationId xmlns:a16="http://schemas.microsoft.com/office/drawing/2014/main" id="{97421DF4-AA0A-1A79-5DB6-F1B2702816E1}"/>
              </a:ext>
            </a:extLst>
          </p:cNvPr>
          <p:cNvSpPr txBox="1">
            <a:spLocks/>
          </p:cNvSpPr>
          <p:nvPr/>
        </p:nvSpPr>
        <p:spPr>
          <a:xfrm>
            <a:off x="2658836" y="3190896"/>
            <a:ext cx="4024046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Elsie"/>
              <a:buNone/>
              <a:defRPr sz="3500" b="0" i="1" u="none" strike="noStrike" cap="none">
                <a:solidFill>
                  <a:schemeClr val="dk1"/>
                </a:solidFill>
                <a:latin typeface="Elsie"/>
                <a:ea typeface="Elsie"/>
                <a:cs typeface="Elsie"/>
                <a:sym typeface="Elsie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pPr algn="l"/>
            <a:r>
              <a:rPr lang="en-US" sz="2000" dirty="0"/>
              <a:t>What the model is learning :</a:t>
            </a:r>
          </a:p>
        </p:txBody>
      </p:sp>
      <p:sp>
        <p:nvSpPr>
          <p:cNvPr id="6" name="Google Shape;269;p34">
            <a:extLst>
              <a:ext uri="{FF2B5EF4-FFF2-40B4-BE49-F238E27FC236}">
                <a16:creationId xmlns:a16="http://schemas.microsoft.com/office/drawing/2014/main" id="{762A9419-DFBE-91C4-568A-B8540A1960BE}"/>
              </a:ext>
            </a:extLst>
          </p:cNvPr>
          <p:cNvSpPr txBox="1">
            <a:spLocks/>
          </p:cNvSpPr>
          <p:nvPr/>
        </p:nvSpPr>
        <p:spPr>
          <a:xfrm>
            <a:off x="2758153" y="3530083"/>
            <a:ext cx="6438146" cy="18334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Elsie"/>
              <a:buNone/>
              <a:defRPr sz="3500" b="0" i="1" u="none" strike="noStrike" cap="none">
                <a:solidFill>
                  <a:schemeClr val="dk1"/>
                </a:solidFill>
                <a:latin typeface="Elsie"/>
                <a:ea typeface="Elsie"/>
                <a:cs typeface="Elsie"/>
                <a:sym typeface="Elsie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pPr marL="285750" indent="-285750" algn="l">
              <a:buFontTx/>
              <a:buChar char="-"/>
            </a:pPr>
            <a:r>
              <a:rPr lang="en-US" sz="1600" i="0" dirty="0" err="1"/>
              <a:t>Persuadability</a:t>
            </a:r>
            <a:r>
              <a:rPr lang="en-US" sz="1600" i="0" dirty="0"/>
              <a:t> is driven more by behavior than demographics</a:t>
            </a:r>
          </a:p>
          <a:p>
            <a:pPr marL="285750" indent="-285750" algn="l">
              <a:buFontTx/>
              <a:buChar char="-"/>
            </a:pPr>
            <a:r>
              <a:rPr lang="en-US" sz="1600" i="0" dirty="0"/>
              <a:t>The strongest signals are moderate to strong spending, receipt volume, and promotional interaction</a:t>
            </a:r>
          </a:p>
          <a:p>
            <a:pPr marL="285750" indent="-285750" algn="l">
              <a:buFontTx/>
              <a:buChar char="-"/>
            </a:pPr>
            <a:r>
              <a:rPr lang="en-US" sz="1600" i="0" dirty="0"/>
              <a:t>[Score customers, then concentrate SMS on the highest-ranked </a:t>
            </a:r>
            <a:r>
              <a:rPr lang="en-US" sz="1600" i="0" dirty="0" err="1"/>
              <a:t>persuadables</a:t>
            </a:r>
            <a:endParaRPr lang="en-US" sz="1600" i="0" dirty="0"/>
          </a:p>
          <a:p>
            <a:pPr marL="285750" indent="-285750" algn="l">
              <a:buFontTx/>
              <a:buChar char="-"/>
            </a:pPr>
            <a:endParaRPr lang="en-US" sz="1600" i="0" dirty="0"/>
          </a:p>
        </p:txBody>
      </p:sp>
    </p:spTree>
    <p:extLst>
      <p:ext uri="{BB962C8B-B14F-4D97-AF65-F5344CB8AC3E}">
        <p14:creationId xmlns:p14="http://schemas.microsoft.com/office/powerpoint/2010/main" val="410887423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82">
          <a:extLst>
            <a:ext uri="{FF2B5EF4-FFF2-40B4-BE49-F238E27FC236}">
              <a16:creationId xmlns:a16="http://schemas.microsoft.com/office/drawing/2014/main" id="{F42F38D7-B12F-D7E4-18E1-329108BF9F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" name="Google Shape;283;p35">
            <a:extLst>
              <a:ext uri="{FF2B5EF4-FFF2-40B4-BE49-F238E27FC236}">
                <a16:creationId xmlns:a16="http://schemas.microsoft.com/office/drawing/2014/main" id="{45B1F696-240D-4AD7-6FF6-4C33918D7FA5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89781" y="355454"/>
            <a:ext cx="8764438" cy="677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500" dirty="0"/>
              <a:t>Targeting Strategy with limited SMS Budget:</a:t>
            </a:r>
            <a:endParaRPr sz="3500" dirty="0"/>
          </a:p>
        </p:txBody>
      </p:sp>
      <p:grpSp>
        <p:nvGrpSpPr>
          <p:cNvPr id="286" name="Google Shape;286;p35">
            <a:extLst>
              <a:ext uri="{FF2B5EF4-FFF2-40B4-BE49-F238E27FC236}">
                <a16:creationId xmlns:a16="http://schemas.microsoft.com/office/drawing/2014/main" id="{E9CD48CD-F549-2069-7BCC-998D87F15C5F}"/>
              </a:ext>
            </a:extLst>
          </p:cNvPr>
          <p:cNvGrpSpPr/>
          <p:nvPr/>
        </p:nvGrpSpPr>
        <p:grpSpPr>
          <a:xfrm>
            <a:off x="2802750" y="256607"/>
            <a:ext cx="3445675" cy="197700"/>
            <a:chOff x="2659300" y="2970747"/>
            <a:chExt cx="3445675" cy="197700"/>
          </a:xfrm>
        </p:grpSpPr>
        <p:sp>
          <p:nvSpPr>
            <p:cNvPr id="287" name="Google Shape;287;p35">
              <a:extLst>
                <a:ext uri="{FF2B5EF4-FFF2-40B4-BE49-F238E27FC236}">
                  <a16:creationId xmlns:a16="http://schemas.microsoft.com/office/drawing/2014/main" id="{326427D8-8469-263A-CEA4-D4DCC7BDC4E2}"/>
                </a:ext>
              </a:extLst>
            </p:cNvPr>
            <p:cNvSpPr/>
            <p:nvPr/>
          </p:nvSpPr>
          <p:spPr>
            <a:xfrm>
              <a:off x="4329709" y="2970747"/>
              <a:ext cx="197700" cy="197700"/>
            </a:xfrm>
            <a:prstGeom prst="plaque">
              <a:avLst>
                <a:gd name="adj" fmla="val 50000"/>
              </a:avLst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cxnSp>
          <p:nvCxnSpPr>
            <p:cNvPr id="288" name="Google Shape;288;p35">
              <a:extLst>
                <a:ext uri="{FF2B5EF4-FFF2-40B4-BE49-F238E27FC236}">
                  <a16:creationId xmlns:a16="http://schemas.microsoft.com/office/drawing/2014/main" id="{5CB7115A-E9F0-A8A1-CACE-35F17256FC21}"/>
                </a:ext>
              </a:extLst>
            </p:cNvPr>
            <p:cNvCxnSpPr/>
            <p:nvPr/>
          </p:nvCxnSpPr>
          <p:spPr>
            <a:xfrm>
              <a:off x="2659300" y="3069594"/>
              <a:ext cx="1521300" cy="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89" name="Google Shape;289;p35">
              <a:extLst>
                <a:ext uri="{FF2B5EF4-FFF2-40B4-BE49-F238E27FC236}">
                  <a16:creationId xmlns:a16="http://schemas.microsoft.com/office/drawing/2014/main" id="{69AEA1EB-339D-9304-771C-F44A7A81FE41}"/>
                </a:ext>
              </a:extLst>
            </p:cNvPr>
            <p:cNvCxnSpPr/>
            <p:nvPr/>
          </p:nvCxnSpPr>
          <p:spPr>
            <a:xfrm>
              <a:off x="4676375" y="3069600"/>
              <a:ext cx="1428600" cy="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AE52C415-DC69-0304-284C-5E5DA6496752}"/>
              </a:ext>
            </a:extLst>
          </p:cNvPr>
          <p:cNvSpPr/>
          <p:nvPr/>
        </p:nvSpPr>
        <p:spPr>
          <a:xfrm>
            <a:off x="4851261" y="1184923"/>
            <a:ext cx="3930430" cy="745370"/>
          </a:xfrm>
          <a:prstGeom prst="roundRect">
            <a:avLst/>
          </a:prstGeom>
          <a:solidFill>
            <a:srgbClr val="EAF3FB"/>
          </a:solidFill>
          <a:ln>
            <a:solidFill>
              <a:srgbClr val="437BB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8A47AFFD-9E7D-C8D2-D98E-CFB28360EAE8}"/>
              </a:ext>
            </a:extLst>
          </p:cNvPr>
          <p:cNvSpPr/>
          <p:nvPr/>
        </p:nvSpPr>
        <p:spPr>
          <a:xfrm>
            <a:off x="4875057" y="2065741"/>
            <a:ext cx="3930430" cy="745370"/>
          </a:xfrm>
          <a:prstGeom prst="roundRect">
            <a:avLst/>
          </a:prstGeom>
          <a:solidFill>
            <a:srgbClr val="F5F9EA"/>
          </a:solidFill>
          <a:ln>
            <a:solidFill>
              <a:srgbClr val="8CC01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ounded Rectangle 11">
            <a:extLst>
              <a:ext uri="{FF2B5EF4-FFF2-40B4-BE49-F238E27FC236}">
                <a16:creationId xmlns:a16="http://schemas.microsoft.com/office/drawing/2014/main" id="{41F8CCC2-8EC2-08CC-B9CB-F2E08CB69C51}"/>
              </a:ext>
            </a:extLst>
          </p:cNvPr>
          <p:cNvSpPr/>
          <p:nvPr/>
        </p:nvSpPr>
        <p:spPr>
          <a:xfrm>
            <a:off x="4875057" y="3899949"/>
            <a:ext cx="3930430" cy="745370"/>
          </a:xfrm>
          <a:prstGeom prst="roundRect">
            <a:avLst/>
          </a:prstGeom>
          <a:solidFill>
            <a:srgbClr val="EFE0DF"/>
          </a:solidFill>
          <a:ln>
            <a:solidFill>
              <a:srgbClr val="DE636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ounded Rectangle 12">
            <a:extLst>
              <a:ext uri="{FF2B5EF4-FFF2-40B4-BE49-F238E27FC236}">
                <a16:creationId xmlns:a16="http://schemas.microsoft.com/office/drawing/2014/main" id="{3A148117-D5BA-9E4E-E1D7-092D325EEB32}"/>
              </a:ext>
            </a:extLst>
          </p:cNvPr>
          <p:cNvSpPr/>
          <p:nvPr/>
        </p:nvSpPr>
        <p:spPr>
          <a:xfrm>
            <a:off x="4875057" y="2984580"/>
            <a:ext cx="3930430" cy="745370"/>
          </a:xfrm>
          <a:prstGeom prst="roundRect">
            <a:avLst/>
          </a:prstGeom>
          <a:solidFill>
            <a:srgbClr val="FEF6E8"/>
          </a:solidFill>
          <a:ln>
            <a:solidFill>
              <a:srgbClr val="F4993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Google Shape;269;p34">
            <a:extLst>
              <a:ext uri="{FF2B5EF4-FFF2-40B4-BE49-F238E27FC236}">
                <a16:creationId xmlns:a16="http://schemas.microsoft.com/office/drawing/2014/main" id="{C1B40D3D-A632-62E0-ACD4-F23751CA79B8}"/>
              </a:ext>
            </a:extLst>
          </p:cNvPr>
          <p:cNvSpPr txBox="1">
            <a:spLocks/>
          </p:cNvSpPr>
          <p:nvPr/>
        </p:nvSpPr>
        <p:spPr>
          <a:xfrm>
            <a:off x="4886851" y="1147122"/>
            <a:ext cx="2996528" cy="43800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Elsie"/>
              <a:buNone/>
              <a:defRPr sz="3500" b="0" i="1" u="none" strike="noStrike" cap="none">
                <a:solidFill>
                  <a:schemeClr val="dk1"/>
                </a:solidFill>
                <a:latin typeface="Elsie"/>
                <a:ea typeface="Elsie"/>
                <a:cs typeface="Elsie"/>
                <a:sym typeface="Elsie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pPr algn="l"/>
            <a:r>
              <a:rPr lang="en-US" sz="1500" b="1" dirty="0"/>
              <a:t>Prioritize Segment 2:</a:t>
            </a:r>
          </a:p>
        </p:txBody>
      </p:sp>
      <p:sp>
        <p:nvSpPr>
          <p:cNvPr id="23" name="Google Shape;269;p34">
            <a:extLst>
              <a:ext uri="{FF2B5EF4-FFF2-40B4-BE49-F238E27FC236}">
                <a16:creationId xmlns:a16="http://schemas.microsoft.com/office/drawing/2014/main" id="{2B1FC6C1-42F7-71D4-6410-D7E845651274}"/>
              </a:ext>
            </a:extLst>
          </p:cNvPr>
          <p:cNvSpPr txBox="1">
            <a:spLocks/>
          </p:cNvSpPr>
          <p:nvPr/>
        </p:nvSpPr>
        <p:spPr>
          <a:xfrm>
            <a:off x="4959345" y="1451125"/>
            <a:ext cx="3846141" cy="43800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Elsie"/>
              <a:buNone/>
              <a:defRPr sz="3500" b="0" i="1" u="none" strike="noStrike" cap="none">
                <a:solidFill>
                  <a:schemeClr val="dk1"/>
                </a:solidFill>
                <a:latin typeface="Elsie"/>
                <a:ea typeface="Elsie"/>
                <a:cs typeface="Elsie"/>
                <a:sym typeface="Elsie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pPr algn="l"/>
            <a:r>
              <a:rPr lang="en-US" sz="1300" i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Highest uplift and best incremental value per message </a:t>
            </a:r>
          </a:p>
        </p:txBody>
      </p:sp>
      <p:sp>
        <p:nvSpPr>
          <p:cNvPr id="24" name="Google Shape;269;p34">
            <a:extLst>
              <a:ext uri="{FF2B5EF4-FFF2-40B4-BE49-F238E27FC236}">
                <a16:creationId xmlns:a16="http://schemas.microsoft.com/office/drawing/2014/main" id="{113A1028-9E98-40FC-FD95-E6D3B0715E42}"/>
              </a:ext>
            </a:extLst>
          </p:cNvPr>
          <p:cNvSpPr txBox="1">
            <a:spLocks/>
          </p:cNvSpPr>
          <p:nvPr/>
        </p:nvSpPr>
        <p:spPr>
          <a:xfrm>
            <a:off x="4959346" y="2027941"/>
            <a:ext cx="2996528" cy="43800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Elsie"/>
              <a:buNone/>
              <a:defRPr sz="3500" b="0" i="1" u="none" strike="noStrike" cap="none">
                <a:solidFill>
                  <a:schemeClr val="dk1"/>
                </a:solidFill>
                <a:latin typeface="Elsie"/>
                <a:ea typeface="Elsie"/>
                <a:cs typeface="Elsie"/>
                <a:sym typeface="Elsie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pPr algn="l"/>
            <a:r>
              <a:rPr lang="en-US" sz="1500" b="1" dirty="0"/>
              <a:t>Expand to Segment 3:</a:t>
            </a:r>
          </a:p>
        </p:txBody>
      </p:sp>
      <p:sp>
        <p:nvSpPr>
          <p:cNvPr id="25" name="Google Shape;269;p34">
            <a:extLst>
              <a:ext uri="{FF2B5EF4-FFF2-40B4-BE49-F238E27FC236}">
                <a16:creationId xmlns:a16="http://schemas.microsoft.com/office/drawing/2014/main" id="{361055E9-1044-2084-B70C-13BE9F916E8F}"/>
              </a:ext>
            </a:extLst>
          </p:cNvPr>
          <p:cNvSpPr txBox="1">
            <a:spLocks/>
          </p:cNvSpPr>
          <p:nvPr/>
        </p:nvSpPr>
        <p:spPr>
          <a:xfrm>
            <a:off x="4959345" y="2357761"/>
            <a:ext cx="3822346" cy="43800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Elsie"/>
              <a:buNone/>
              <a:defRPr sz="3500" b="0" i="1" u="none" strike="noStrike" cap="none">
                <a:solidFill>
                  <a:schemeClr val="dk1"/>
                </a:solidFill>
                <a:latin typeface="Elsie"/>
                <a:ea typeface="Elsie"/>
                <a:cs typeface="Elsie"/>
                <a:sym typeface="Elsie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pPr algn="l"/>
            <a:r>
              <a:rPr lang="en-US" sz="1300" i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Positive lift makes it a strong secondary audience</a:t>
            </a:r>
          </a:p>
        </p:txBody>
      </p:sp>
      <p:sp>
        <p:nvSpPr>
          <p:cNvPr id="26" name="Google Shape;269;p34">
            <a:extLst>
              <a:ext uri="{FF2B5EF4-FFF2-40B4-BE49-F238E27FC236}">
                <a16:creationId xmlns:a16="http://schemas.microsoft.com/office/drawing/2014/main" id="{7C78AFED-456B-7060-AD00-9EA83D627238}"/>
              </a:ext>
            </a:extLst>
          </p:cNvPr>
          <p:cNvSpPr txBox="1">
            <a:spLocks/>
          </p:cNvSpPr>
          <p:nvPr/>
        </p:nvSpPr>
        <p:spPr>
          <a:xfrm>
            <a:off x="4910645" y="2954310"/>
            <a:ext cx="2996528" cy="43800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Elsie"/>
              <a:buNone/>
              <a:defRPr sz="3500" b="0" i="1" u="none" strike="noStrike" cap="none">
                <a:solidFill>
                  <a:schemeClr val="dk1"/>
                </a:solidFill>
                <a:latin typeface="Elsie"/>
                <a:ea typeface="Elsie"/>
                <a:cs typeface="Elsie"/>
                <a:sym typeface="Elsie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pPr algn="l"/>
            <a:r>
              <a:rPr lang="en-US" sz="1500" b="1" dirty="0"/>
              <a:t>De-prioritize Segment 1:</a:t>
            </a:r>
          </a:p>
        </p:txBody>
      </p:sp>
      <p:sp>
        <p:nvSpPr>
          <p:cNvPr id="27" name="Google Shape;269;p34">
            <a:extLst>
              <a:ext uri="{FF2B5EF4-FFF2-40B4-BE49-F238E27FC236}">
                <a16:creationId xmlns:a16="http://schemas.microsoft.com/office/drawing/2014/main" id="{6FF45346-DBB8-6DEF-88F1-03A236858C5E}"/>
              </a:ext>
            </a:extLst>
          </p:cNvPr>
          <p:cNvSpPr txBox="1">
            <a:spLocks/>
          </p:cNvSpPr>
          <p:nvPr/>
        </p:nvSpPr>
        <p:spPr>
          <a:xfrm>
            <a:off x="4959345" y="3203583"/>
            <a:ext cx="3822346" cy="43800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Elsie"/>
              <a:buNone/>
              <a:defRPr sz="3500" b="0" i="1" u="none" strike="noStrike" cap="none">
                <a:solidFill>
                  <a:schemeClr val="dk1"/>
                </a:solidFill>
                <a:latin typeface="Elsie"/>
                <a:ea typeface="Elsie"/>
                <a:cs typeface="Elsie"/>
                <a:sym typeface="Elsie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pPr algn="l"/>
            <a:r>
              <a:rPr lang="en-US" sz="1300" i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High baseline activity means many would visit store anyway</a:t>
            </a:r>
          </a:p>
        </p:txBody>
      </p:sp>
      <p:sp>
        <p:nvSpPr>
          <p:cNvPr id="28" name="Google Shape;269;p34">
            <a:extLst>
              <a:ext uri="{FF2B5EF4-FFF2-40B4-BE49-F238E27FC236}">
                <a16:creationId xmlns:a16="http://schemas.microsoft.com/office/drawing/2014/main" id="{F2A7DC41-19DC-59E2-95FC-F91708B92D76}"/>
              </a:ext>
            </a:extLst>
          </p:cNvPr>
          <p:cNvSpPr txBox="1">
            <a:spLocks/>
          </p:cNvSpPr>
          <p:nvPr/>
        </p:nvSpPr>
        <p:spPr>
          <a:xfrm>
            <a:off x="4959346" y="3860081"/>
            <a:ext cx="3513336" cy="3183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Elsie"/>
              <a:buNone/>
              <a:defRPr sz="3500" b="0" i="1" u="none" strike="noStrike" cap="none">
                <a:solidFill>
                  <a:schemeClr val="dk1"/>
                </a:solidFill>
                <a:latin typeface="Elsie"/>
                <a:ea typeface="Elsie"/>
                <a:cs typeface="Elsie"/>
                <a:sym typeface="Elsie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pPr algn="l"/>
            <a:r>
              <a:rPr lang="en-US" sz="1500" b="1" dirty="0"/>
              <a:t>Use Segment 4 Cautiously:</a:t>
            </a:r>
          </a:p>
        </p:txBody>
      </p:sp>
      <p:sp>
        <p:nvSpPr>
          <p:cNvPr id="29" name="Google Shape;269;p34">
            <a:extLst>
              <a:ext uri="{FF2B5EF4-FFF2-40B4-BE49-F238E27FC236}">
                <a16:creationId xmlns:a16="http://schemas.microsoft.com/office/drawing/2014/main" id="{88581DDD-7769-4F76-AB90-8D60EC5B1E55}"/>
              </a:ext>
            </a:extLst>
          </p:cNvPr>
          <p:cNvSpPr txBox="1">
            <a:spLocks/>
          </p:cNvSpPr>
          <p:nvPr/>
        </p:nvSpPr>
        <p:spPr>
          <a:xfrm>
            <a:off x="4929099" y="4089542"/>
            <a:ext cx="3822346" cy="43800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Elsie"/>
              <a:buNone/>
              <a:defRPr sz="3500" b="0" i="1" u="none" strike="noStrike" cap="none">
                <a:solidFill>
                  <a:schemeClr val="dk1"/>
                </a:solidFill>
                <a:latin typeface="Elsie"/>
                <a:ea typeface="Elsie"/>
                <a:cs typeface="Elsie"/>
                <a:sym typeface="Elsie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pPr algn="l"/>
            <a:r>
              <a:rPr lang="en-US" sz="1300" i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Large segment size can absorb budget while delivering response</a:t>
            </a:r>
          </a:p>
        </p:txBody>
      </p:sp>
      <p:pic>
        <p:nvPicPr>
          <p:cNvPr id="31" name="Picture 30" descr="A graph with numbers and letters&#10;&#10;AI-generated content may be incorrect.">
            <a:extLst>
              <a:ext uri="{FF2B5EF4-FFF2-40B4-BE49-F238E27FC236}">
                <a16:creationId xmlns:a16="http://schemas.microsoft.com/office/drawing/2014/main" id="{61A1413F-777D-BB9B-84D4-A6A2BB4E192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490378"/>
            <a:ext cx="4819825" cy="25988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8997480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6664E1E4-B1AA-3C72-C0A0-296223E7217E}"/>
              </a:ext>
            </a:extLst>
          </p:cNvPr>
          <p:cNvSpPr/>
          <p:nvPr/>
        </p:nvSpPr>
        <p:spPr>
          <a:xfrm>
            <a:off x="4305700" y="1070561"/>
            <a:ext cx="4656196" cy="2939082"/>
          </a:xfrm>
          <a:prstGeom prst="roundRect">
            <a:avLst/>
          </a:prstGeom>
          <a:solidFill>
            <a:srgbClr val="FFFFFF"/>
          </a:solidFill>
          <a:ln>
            <a:solidFill>
              <a:srgbClr val="D9E3E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8C681C62-8427-285F-5819-67C78E1A21BF}"/>
              </a:ext>
            </a:extLst>
          </p:cNvPr>
          <p:cNvSpPr/>
          <p:nvPr/>
        </p:nvSpPr>
        <p:spPr>
          <a:xfrm>
            <a:off x="0" y="1133857"/>
            <a:ext cx="4211591" cy="2939082"/>
          </a:xfrm>
          <a:prstGeom prst="roundRect">
            <a:avLst/>
          </a:prstGeom>
          <a:solidFill>
            <a:srgbClr val="FFFFFF"/>
          </a:solidFill>
          <a:ln>
            <a:solidFill>
              <a:srgbClr val="D9E3E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4" name="Google Shape;334;p38"/>
          <p:cNvSpPr txBox="1">
            <a:spLocks noGrp="1"/>
          </p:cNvSpPr>
          <p:nvPr>
            <p:ph type="title"/>
          </p:nvPr>
        </p:nvSpPr>
        <p:spPr>
          <a:xfrm>
            <a:off x="720000" y="323626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Limitations &amp; Next Steps:</a:t>
            </a:r>
            <a:endParaRPr dirty="0"/>
          </a:p>
        </p:txBody>
      </p:sp>
      <p:sp>
        <p:nvSpPr>
          <p:cNvPr id="4" name="Google Shape;269;p34">
            <a:extLst>
              <a:ext uri="{FF2B5EF4-FFF2-40B4-BE49-F238E27FC236}">
                <a16:creationId xmlns:a16="http://schemas.microsoft.com/office/drawing/2014/main" id="{1844951F-8953-657E-D5C9-96679BC4AC2F}"/>
              </a:ext>
            </a:extLst>
          </p:cNvPr>
          <p:cNvSpPr txBox="1">
            <a:spLocks/>
          </p:cNvSpPr>
          <p:nvPr/>
        </p:nvSpPr>
        <p:spPr>
          <a:xfrm>
            <a:off x="4659" y="1304075"/>
            <a:ext cx="4024046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Elsie"/>
              <a:buNone/>
              <a:defRPr sz="3500" b="0" i="1" u="none" strike="noStrike" cap="none">
                <a:solidFill>
                  <a:schemeClr val="dk1"/>
                </a:solidFill>
                <a:latin typeface="Elsie"/>
                <a:ea typeface="Elsie"/>
                <a:cs typeface="Elsie"/>
                <a:sym typeface="Elsie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pPr algn="l"/>
            <a:r>
              <a:rPr lang="en-US" sz="2000" dirty="0"/>
              <a:t>Limitations: </a:t>
            </a:r>
          </a:p>
        </p:txBody>
      </p:sp>
      <p:sp>
        <p:nvSpPr>
          <p:cNvPr id="5" name="Google Shape;269;p34">
            <a:extLst>
              <a:ext uri="{FF2B5EF4-FFF2-40B4-BE49-F238E27FC236}">
                <a16:creationId xmlns:a16="http://schemas.microsoft.com/office/drawing/2014/main" id="{8AD1E973-AC6E-6E5B-8D4D-2AE63DFCA8A7}"/>
              </a:ext>
            </a:extLst>
          </p:cNvPr>
          <p:cNvSpPr txBox="1">
            <a:spLocks/>
          </p:cNvSpPr>
          <p:nvPr/>
        </p:nvSpPr>
        <p:spPr>
          <a:xfrm>
            <a:off x="0" y="1706557"/>
            <a:ext cx="4399472" cy="19561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Elsie"/>
              <a:buNone/>
              <a:defRPr sz="3500" b="0" i="1" u="none" strike="noStrike" cap="none">
                <a:solidFill>
                  <a:schemeClr val="dk1"/>
                </a:solidFill>
                <a:latin typeface="Elsie"/>
                <a:ea typeface="Elsie"/>
                <a:cs typeface="Elsie"/>
                <a:sym typeface="Elsie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pPr marL="285750" indent="-285750" algn="l">
              <a:buFontTx/>
              <a:buChar char="-"/>
            </a:pPr>
            <a:r>
              <a:rPr lang="en-US" sz="1600" i="0" dirty="0"/>
              <a:t>Treatment is estimated at the segment level, not as a full individual-level uplift score.</a:t>
            </a:r>
          </a:p>
          <a:p>
            <a:pPr marL="285750" indent="-285750" algn="l">
              <a:buFontTx/>
              <a:buChar char="-"/>
            </a:pPr>
            <a:r>
              <a:rPr lang="en-US" sz="1600" i="0" dirty="0"/>
              <a:t>Segment labels are behavioral interpretations, not permanent customer identities.</a:t>
            </a:r>
          </a:p>
          <a:p>
            <a:pPr marL="285750" indent="-285750" algn="l">
              <a:buFontTx/>
              <a:buChar char="-"/>
            </a:pPr>
            <a:r>
              <a:rPr lang="en-US" sz="1600" i="0" dirty="0"/>
              <a:t>No distinct Do-Not-Disturb segment </a:t>
            </a:r>
          </a:p>
          <a:p>
            <a:pPr marL="285750" indent="-285750" algn="l">
              <a:buFontTx/>
              <a:buChar char="-"/>
            </a:pPr>
            <a:r>
              <a:rPr lang="en-US" sz="1600" i="0" dirty="0"/>
              <a:t>Analysis optimizes incremental visits, not full financial return.</a:t>
            </a:r>
          </a:p>
        </p:txBody>
      </p:sp>
      <p:sp>
        <p:nvSpPr>
          <p:cNvPr id="6" name="Google Shape;269;p34">
            <a:extLst>
              <a:ext uri="{FF2B5EF4-FFF2-40B4-BE49-F238E27FC236}">
                <a16:creationId xmlns:a16="http://schemas.microsoft.com/office/drawing/2014/main" id="{6127DF23-C012-D3D2-7210-1303310C11E5}"/>
              </a:ext>
            </a:extLst>
          </p:cNvPr>
          <p:cNvSpPr txBox="1">
            <a:spLocks/>
          </p:cNvSpPr>
          <p:nvPr/>
        </p:nvSpPr>
        <p:spPr>
          <a:xfrm>
            <a:off x="4446442" y="1246637"/>
            <a:ext cx="4024046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Elsie"/>
              <a:buNone/>
              <a:defRPr sz="3500" b="0" i="1" u="none" strike="noStrike" cap="none">
                <a:solidFill>
                  <a:schemeClr val="dk1"/>
                </a:solidFill>
                <a:latin typeface="Elsie"/>
                <a:ea typeface="Elsie"/>
                <a:cs typeface="Elsie"/>
                <a:sym typeface="Elsie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pPr algn="l"/>
            <a:r>
              <a:rPr lang="en-US" sz="2000" dirty="0"/>
              <a:t>Next Steps:</a:t>
            </a:r>
          </a:p>
        </p:txBody>
      </p:sp>
      <p:sp>
        <p:nvSpPr>
          <p:cNvPr id="7" name="Google Shape;269;p34">
            <a:extLst>
              <a:ext uri="{FF2B5EF4-FFF2-40B4-BE49-F238E27FC236}">
                <a16:creationId xmlns:a16="http://schemas.microsoft.com/office/drawing/2014/main" id="{563619AD-8E35-D642-85E1-FDC05851C49E}"/>
              </a:ext>
            </a:extLst>
          </p:cNvPr>
          <p:cNvSpPr txBox="1">
            <a:spLocks/>
          </p:cNvSpPr>
          <p:nvPr/>
        </p:nvSpPr>
        <p:spPr>
          <a:xfrm>
            <a:off x="4352502" y="1655033"/>
            <a:ext cx="4656364" cy="22418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Elsie"/>
              <a:buNone/>
              <a:defRPr sz="3500" b="0" i="1" u="none" strike="noStrike" cap="none">
                <a:solidFill>
                  <a:schemeClr val="dk1"/>
                </a:solidFill>
                <a:latin typeface="Elsie"/>
                <a:ea typeface="Elsie"/>
                <a:cs typeface="Elsie"/>
                <a:sym typeface="Elsie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pPr marL="285750" indent="-285750" algn="l">
              <a:buFontTx/>
              <a:buChar char="-"/>
            </a:pPr>
            <a:r>
              <a:rPr lang="en-US" sz="1600" i="0" dirty="0"/>
              <a:t>Build an individual-level uplift model to rank expected treatment effect directly </a:t>
            </a:r>
          </a:p>
          <a:p>
            <a:pPr marL="285750" indent="-285750" algn="l">
              <a:buFontTx/>
              <a:buChar char="-"/>
            </a:pPr>
            <a:r>
              <a:rPr lang="en-US" sz="1600" i="0" dirty="0"/>
              <a:t>Incorporate SMS cost, order value, and customer lifetime value to optimize profit </a:t>
            </a:r>
          </a:p>
          <a:p>
            <a:pPr marL="285750" indent="-285750" algn="l">
              <a:buFontTx/>
              <a:buChar char="-"/>
            </a:pPr>
            <a:r>
              <a:rPr lang="en-US" sz="1600" i="0" dirty="0"/>
              <a:t>Refresh the segmentation over time as customer behavior evolves </a:t>
            </a:r>
          </a:p>
          <a:p>
            <a:pPr marL="285750" indent="-285750" algn="l">
              <a:buFontTx/>
              <a:buChar char="-"/>
            </a:pPr>
            <a:r>
              <a:rPr lang="en-US" sz="1600" i="0" dirty="0"/>
              <a:t>Run a live test comparing targeted deployment against current campaign strategy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33">
          <a:extLst>
            <a:ext uri="{FF2B5EF4-FFF2-40B4-BE49-F238E27FC236}">
              <a16:creationId xmlns:a16="http://schemas.microsoft.com/office/drawing/2014/main" id="{EC56FE74-0BDE-4943-85AB-3279013872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480;p49">
            <a:extLst>
              <a:ext uri="{FF2B5EF4-FFF2-40B4-BE49-F238E27FC236}">
                <a16:creationId xmlns:a16="http://schemas.microsoft.com/office/drawing/2014/main" id="{E5FCAED4-057B-D45E-8AA6-41D36ADA9C7A}"/>
              </a:ext>
            </a:extLst>
          </p:cNvPr>
          <p:cNvSpPr txBox="1">
            <a:spLocks/>
          </p:cNvSpPr>
          <p:nvPr/>
        </p:nvSpPr>
        <p:spPr>
          <a:xfrm>
            <a:off x="2430000" y="1287975"/>
            <a:ext cx="4284000" cy="99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Elsie"/>
              <a:buNone/>
              <a:defRPr sz="3500" b="0" i="1" u="none" strike="noStrike" cap="none">
                <a:solidFill>
                  <a:schemeClr val="dk1"/>
                </a:solidFill>
                <a:latin typeface="Elsie"/>
                <a:ea typeface="Elsie"/>
                <a:cs typeface="Elsie"/>
                <a:sym typeface="Elsie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r>
              <a:rPr lang="en-US" sz="6000" dirty="0"/>
              <a:t>Thanks!</a:t>
            </a:r>
          </a:p>
        </p:txBody>
      </p:sp>
      <p:sp>
        <p:nvSpPr>
          <p:cNvPr id="13" name="Google Shape;480;p49">
            <a:extLst>
              <a:ext uri="{FF2B5EF4-FFF2-40B4-BE49-F238E27FC236}">
                <a16:creationId xmlns:a16="http://schemas.microsoft.com/office/drawing/2014/main" id="{000719A1-F6FC-2664-20EC-7C6555FAA9BB}"/>
              </a:ext>
            </a:extLst>
          </p:cNvPr>
          <p:cNvSpPr txBox="1">
            <a:spLocks/>
          </p:cNvSpPr>
          <p:nvPr/>
        </p:nvSpPr>
        <p:spPr>
          <a:xfrm>
            <a:off x="2430000" y="1859926"/>
            <a:ext cx="4284000" cy="99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Elsie"/>
              <a:buNone/>
              <a:defRPr sz="3500" b="0" i="1" u="none" strike="noStrike" cap="none">
                <a:solidFill>
                  <a:schemeClr val="dk1"/>
                </a:solidFill>
                <a:latin typeface="Elsie"/>
                <a:ea typeface="Elsie"/>
                <a:cs typeface="Elsie"/>
                <a:sym typeface="Elsie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r>
              <a:rPr lang="en-US" sz="3000" dirty="0"/>
              <a:t>Questions?</a:t>
            </a:r>
          </a:p>
        </p:txBody>
      </p:sp>
    </p:spTree>
    <p:extLst>
      <p:ext uri="{BB962C8B-B14F-4D97-AF65-F5344CB8AC3E}">
        <p14:creationId xmlns:p14="http://schemas.microsoft.com/office/powerpoint/2010/main" val="3943508995"/>
      </p:ext>
    </p:extLst>
  </p:cSld>
  <p:clrMapOvr>
    <a:masterClrMapping/>
  </p:clrMapOvr>
</p:sld>
</file>

<file path=ppt/theme/theme1.xml><?xml version="1.0" encoding="utf-8"?>
<a:theme xmlns:a="http://schemas.openxmlformats.org/drawingml/2006/main" name="Clean and Elegant Portfolio by Slidesgo">
  <a:themeElements>
    <a:clrScheme name="Simple Light">
      <a:dk1>
        <a:srgbClr val="134F5C"/>
      </a:dk1>
      <a:lt1>
        <a:srgbClr val="A2C4C9"/>
      </a:lt1>
      <a:dk2>
        <a:srgbClr val="FFFFFF"/>
      </a:dk2>
      <a:lt2>
        <a:srgbClr val="0C343D"/>
      </a:lt2>
      <a:accent1>
        <a:srgbClr val="265D57"/>
      </a:accent1>
      <a:accent2>
        <a:srgbClr val="FFFFFF"/>
      </a:accent2>
      <a:accent3>
        <a:srgbClr val="FFFFFF"/>
      </a:accent3>
      <a:accent4>
        <a:srgbClr val="FFFFFF"/>
      </a:accent4>
      <a:accent5>
        <a:srgbClr val="FFFFFF"/>
      </a:accent5>
      <a:accent6>
        <a:srgbClr val="FFFFFF"/>
      </a:accent6>
      <a:hlink>
        <a:srgbClr val="134F5C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687</Words>
  <Application>Microsoft Macintosh PowerPoint</Application>
  <PresentationFormat>On-screen Show (16:9)</PresentationFormat>
  <Paragraphs>117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0" baseType="lpstr">
      <vt:lpstr>Albert Sans</vt:lpstr>
      <vt:lpstr>Arial</vt:lpstr>
      <vt:lpstr>Times New Roman</vt:lpstr>
      <vt:lpstr>Elsie</vt:lpstr>
      <vt:lpstr>Clean and Elegant Portfolio by Slidesgo</vt:lpstr>
      <vt:lpstr>Maximizing Incremental Store Visits Under a Limited SMS Budget</vt:lpstr>
      <vt:lpstr>Dataset:</vt:lpstr>
      <vt:lpstr>If SMS budget is limited, how can customers be targeted to maximize incremental store visits relative to sending no SMS?</vt:lpstr>
      <vt:lpstr>The Four Customer Types:</vt:lpstr>
      <vt:lpstr>Steps:</vt:lpstr>
      <vt:lpstr>Data &amp; Analytical Pipeline: </vt:lpstr>
      <vt:lpstr>Behavior-based Segmentation </vt:lpstr>
      <vt:lpstr>Visuals of the Four Segments:</vt:lpstr>
      <vt:lpstr>Decision Metric = Uplift </vt:lpstr>
      <vt:lpstr>Business Interpretation of Segments</vt:lpstr>
      <vt:lpstr>Segments are Stable &amp; Learnable! </vt:lpstr>
      <vt:lpstr>Binary Persuadables Model</vt:lpstr>
      <vt:lpstr>Targeting Strategy with limited SMS Budget:</vt:lpstr>
      <vt:lpstr>Limitations &amp; Next Steps: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Castellsague Kharbouch, Nuria (CASTENX22)</cp:lastModifiedBy>
  <cp:revision>1</cp:revision>
  <dcterms:modified xsi:type="dcterms:W3CDTF">2026-03-13T07:29:37Z</dcterms:modified>
</cp:coreProperties>
</file>